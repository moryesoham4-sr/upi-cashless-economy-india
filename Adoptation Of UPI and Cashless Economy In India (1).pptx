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4320" y="352805"/>
            <a:ext cx="5274208" cy="1632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3552570"/>
            <a:ext cx="6387465" cy="3170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oneycontrol.com/" TargetMode="External"/><Relationship Id="rId3" Type="http://schemas.openxmlformats.org/officeDocument/2006/relationships/hyperlink" Target="mailto:salunkheriya76@gmail.com" TargetMode="External"/><Relationship Id="rId7" Type="http://schemas.openxmlformats.org/officeDocument/2006/relationships/hyperlink" Target="https://economictimes.indiatimes.com/" TargetMode="External"/><Relationship Id="rId2" Type="http://schemas.openxmlformats.org/officeDocument/2006/relationships/hyperlink" Target="mailto:2@gmail.com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rbi.org.in/" TargetMode="External"/><Relationship Id="rId5" Type="http://schemas.openxmlformats.org/officeDocument/2006/relationships/hyperlink" Target="https://www.npci.org.in/" TargetMode="External"/><Relationship Id="rId10" Type="http://schemas.openxmlformats.org/officeDocument/2006/relationships/image" Target="../media/image23.jpg"/><Relationship Id="rId4" Type="http://schemas.openxmlformats.org/officeDocument/2006/relationships/image" Target="../media/image22.png"/><Relationship Id="rId9" Type="http://schemas.openxmlformats.org/officeDocument/2006/relationships/hyperlink" Target="https://www.digitalindia.gov.in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xiAogiK7NRwIIguPvx9ReeJ_w8CbyJfQ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51685" cy="6258560"/>
          </a:xfrm>
          <a:custGeom>
            <a:avLst/>
            <a:gdLst/>
            <a:ahLst/>
            <a:cxnLst/>
            <a:rect l="l" t="t" r="r" b="b"/>
            <a:pathLst>
              <a:path w="2051685" h="6258560">
                <a:moveTo>
                  <a:pt x="735330" y="0"/>
                </a:moveTo>
                <a:lnTo>
                  <a:pt x="0" y="0"/>
                </a:lnTo>
                <a:lnTo>
                  <a:pt x="0" y="6258559"/>
                </a:lnTo>
                <a:lnTo>
                  <a:pt x="238760" y="6258559"/>
                </a:lnTo>
                <a:lnTo>
                  <a:pt x="2051685" y="2632709"/>
                </a:lnTo>
                <a:lnTo>
                  <a:pt x="735330" y="0"/>
                </a:lnTo>
                <a:close/>
              </a:path>
            </a:pathLst>
          </a:custGeom>
          <a:solidFill>
            <a:srgbClr val="00CC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43629" y="167004"/>
            <a:ext cx="440690" cy="495934"/>
          </a:xfrm>
          <a:custGeom>
            <a:avLst/>
            <a:gdLst/>
            <a:ahLst/>
            <a:cxnLst/>
            <a:rect l="l" t="t" r="r" b="b"/>
            <a:pathLst>
              <a:path w="440689" h="495934">
                <a:moveTo>
                  <a:pt x="0" y="0"/>
                </a:moveTo>
                <a:lnTo>
                  <a:pt x="0" y="495934"/>
                </a:lnTo>
                <a:lnTo>
                  <a:pt x="440690" y="24790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71569" y="230225"/>
            <a:ext cx="3128010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0680">
              <a:lnSpc>
                <a:spcPct val="125699"/>
              </a:lnSpc>
              <a:spcBef>
                <a:spcPts val="100"/>
              </a:spcBef>
            </a:pPr>
            <a:r>
              <a:rPr sz="1400" dirty="0">
                <a:latin typeface="Arial Black"/>
                <a:cs typeface="Arial Black"/>
              </a:rPr>
              <a:t>Department</a:t>
            </a:r>
            <a:r>
              <a:rPr sz="1400" spc="-3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of</a:t>
            </a:r>
            <a:r>
              <a:rPr sz="1400" spc="-4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Data</a:t>
            </a:r>
            <a:r>
              <a:rPr sz="1400" spc="-50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Science </a:t>
            </a:r>
            <a:r>
              <a:rPr sz="1400" dirty="0">
                <a:latin typeface="Arial Black"/>
                <a:cs typeface="Arial Black"/>
              </a:rPr>
              <a:t>SY</a:t>
            </a:r>
            <a:r>
              <a:rPr sz="1400" spc="-30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B.Sc.</a:t>
            </a:r>
            <a:r>
              <a:rPr sz="1400" spc="-25" dirty="0">
                <a:latin typeface="Arial Black"/>
                <a:cs typeface="Arial Black"/>
              </a:rPr>
              <a:t> </a:t>
            </a:r>
            <a:r>
              <a:rPr sz="1400" dirty="0">
                <a:latin typeface="Arial Black"/>
                <a:cs typeface="Arial Black"/>
              </a:rPr>
              <a:t>(Data</a:t>
            </a:r>
            <a:r>
              <a:rPr sz="1400" spc="-40" dirty="0">
                <a:latin typeface="Arial Black"/>
                <a:cs typeface="Arial Black"/>
              </a:rPr>
              <a:t> </a:t>
            </a:r>
            <a:r>
              <a:rPr sz="1400" spc="-10" dirty="0">
                <a:latin typeface="Arial Black"/>
                <a:cs typeface="Arial Black"/>
              </a:rPr>
              <a:t>Science)</a:t>
            </a:r>
            <a:endParaRPr sz="1400">
              <a:latin typeface="Arial Black"/>
              <a:cs typeface="Arial Black"/>
            </a:endParaRPr>
          </a:p>
          <a:p>
            <a:pPr marL="789305" marR="5080">
              <a:lnSpc>
                <a:spcPct val="111000"/>
              </a:lnSpc>
              <a:spcBef>
                <a:spcPts val="545"/>
              </a:spcBef>
            </a:pPr>
            <a:r>
              <a:rPr sz="1200" dirty="0">
                <a:latin typeface="Arial"/>
                <a:cs typeface="Arial"/>
              </a:rPr>
              <a:t>Smt.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CHM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spc="45" dirty="0">
                <a:latin typeface="Arial"/>
                <a:cs typeface="Arial"/>
              </a:rPr>
              <a:t>Collage,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45" dirty="0">
                <a:latin typeface="Arial"/>
                <a:cs typeface="Arial"/>
              </a:rPr>
              <a:t>Ulhasnagar, </a:t>
            </a:r>
            <a:r>
              <a:rPr sz="1200" spc="55" dirty="0">
                <a:latin typeface="Arial"/>
                <a:cs typeface="Arial"/>
              </a:rPr>
              <a:t>University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6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Mumbai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8795" y="813942"/>
            <a:ext cx="528320" cy="47370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2654045"/>
            <a:ext cx="7560945" cy="8038465"/>
            <a:chOff x="0" y="2654045"/>
            <a:chExt cx="7560945" cy="8038465"/>
          </a:xfrm>
        </p:grpSpPr>
        <p:sp>
          <p:nvSpPr>
            <p:cNvPr id="7" name="object 7"/>
            <p:cNvSpPr/>
            <p:nvPr/>
          </p:nvSpPr>
          <p:spPr>
            <a:xfrm>
              <a:off x="1033144" y="5421248"/>
              <a:ext cx="6527800" cy="5271135"/>
            </a:xfrm>
            <a:custGeom>
              <a:avLst/>
              <a:gdLst/>
              <a:ahLst/>
              <a:cxnLst/>
              <a:rect l="l" t="t" r="r" b="b"/>
              <a:pathLst>
                <a:path w="6527800" h="5271134">
                  <a:moveTo>
                    <a:pt x="6527419" y="0"/>
                  </a:moveTo>
                  <a:lnTo>
                    <a:pt x="0" y="0"/>
                  </a:lnTo>
                  <a:lnTo>
                    <a:pt x="0" y="5271135"/>
                  </a:lnTo>
                  <a:lnTo>
                    <a:pt x="6527419" y="5271135"/>
                  </a:lnTo>
                  <a:lnTo>
                    <a:pt x="6527419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5249938"/>
              <a:ext cx="1033144" cy="5442585"/>
            </a:xfrm>
            <a:custGeom>
              <a:avLst/>
              <a:gdLst/>
              <a:ahLst/>
              <a:cxnLst/>
              <a:rect l="l" t="t" r="r" b="b"/>
              <a:pathLst>
                <a:path w="1033144" h="5442584">
                  <a:moveTo>
                    <a:pt x="1033144" y="5442445"/>
                  </a:moveTo>
                  <a:lnTo>
                    <a:pt x="1033144" y="0"/>
                  </a:lnTo>
                  <a:lnTo>
                    <a:pt x="0" y="0"/>
                  </a:lnTo>
                  <a:lnTo>
                    <a:pt x="0" y="5442445"/>
                  </a:lnTo>
                  <a:lnTo>
                    <a:pt x="1033144" y="5442445"/>
                  </a:lnTo>
                  <a:close/>
                </a:path>
              </a:pathLst>
            </a:custGeom>
            <a:solidFill>
              <a:srgbClr val="4368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935" y="2781045"/>
              <a:ext cx="5209540" cy="48996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6935" y="2781045"/>
              <a:ext cx="5209540" cy="4899660"/>
            </a:xfrm>
            <a:custGeom>
              <a:avLst/>
              <a:gdLst/>
              <a:ahLst/>
              <a:cxnLst/>
              <a:rect l="l" t="t" r="r" b="b"/>
              <a:pathLst>
                <a:path w="5209540" h="4899659">
                  <a:moveTo>
                    <a:pt x="0" y="2449830"/>
                  </a:moveTo>
                  <a:lnTo>
                    <a:pt x="1224915" y="0"/>
                  </a:lnTo>
                  <a:lnTo>
                    <a:pt x="3984625" y="0"/>
                  </a:lnTo>
                  <a:lnTo>
                    <a:pt x="5209540" y="2449830"/>
                  </a:lnTo>
                  <a:lnTo>
                    <a:pt x="3984625" y="4899660"/>
                  </a:lnTo>
                  <a:lnTo>
                    <a:pt x="1224915" y="4899660"/>
                  </a:lnTo>
                  <a:lnTo>
                    <a:pt x="0" y="2449830"/>
                  </a:lnTo>
                  <a:close/>
                </a:path>
              </a:pathLst>
            </a:custGeom>
            <a:ln w="253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49650" y="4695570"/>
              <a:ext cx="4011295" cy="1299210"/>
            </a:xfrm>
            <a:custGeom>
              <a:avLst/>
              <a:gdLst/>
              <a:ahLst/>
              <a:cxnLst/>
              <a:rect l="l" t="t" r="r" b="b"/>
              <a:pathLst>
                <a:path w="4011295" h="1299210">
                  <a:moveTo>
                    <a:pt x="4010914" y="0"/>
                  </a:moveTo>
                  <a:lnTo>
                    <a:pt x="743585" y="0"/>
                  </a:lnTo>
                  <a:lnTo>
                    <a:pt x="743585" y="12560"/>
                  </a:lnTo>
                  <a:lnTo>
                    <a:pt x="737235" y="6985"/>
                  </a:lnTo>
                  <a:lnTo>
                    <a:pt x="0" y="653161"/>
                  </a:lnTo>
                  <a:lnTo>
                    <a:pt x="737235" y="1299210"/>
                  </a:lnTo>
                  <a:lnTo>
                    <a:pt x="745197" y="1292225"/>
                  </a:lnTo>
                  <a:lnTo>
                    <a:pt x="4010914" y="1292225"/>
                  </a:lnTo>
                  <a:lnTo>
                    <a:pt x="40109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53280" y="4782438"/>
            <a:ext cx="30822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Black"/>
                <a:cs typeface="Arial Black"/>
              </a:rPr>
              <a:t>Field</a:t>
            </a:r>
            <a:r>
              <a:rPr sz="2200" spc="-50" dirty="0">
                <a:latin typeface="Arial Black"/>
                <a:cs typeface="Arial Black"/>
              </a:rPr>
              <a:t> </a:t>
            </a:r>
            <a:r>
              <a:rPr sz="2200" dirty="0">
                <a:latin typeface="Arial Black"/>
                <a:cs typeface="Arial Black"/>
              </a:rPr>
              <a:t>Project</a:t>
            </a:r>
            <a:r>
              <a:rPr sz="2200" spc="-55" dirty="0">
                <a:latin typeface="Arial Black"/>
                <a:cs typeface="Arial Black"/>
              </a:rPr>
              <a:t> </a:t>
            </a:r>
            <a:r>
              <a:rPr sz="2200" spc="-10" dirty="0">
                <a:latin typeface="Arial Black"/>
                <a:cs typeface="Arial Black"/>
              </a:rPr>
              <a:t>Report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2234" y="5120766"/>
            <a:ext cx="3326129" cy="66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>
              <a:lnSpc>
                <a:spcPts val="1635"/>
              </a:lnSpc>
              <a:spcBef>
                <a:spcPts val="105"/>
              </a:spcBef>
            </a:pPr>
            <a:r>
              <a:rPr sz="1400" spc="-25" dirty="0">
                <a:solidFill>
                  <a:srgbClr val="385522"/>
                </a:solidFill>
                <a:latin typeface="Times New Roman"/>
                <a:cs typeface="Times New Roman"/>
              </a:rPr>
              <a:t>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875"/>
              </a:lnSpc>
            </a:pPr>
            <a:r>
              <a:rPr sz="1600" dirty="0">
                <a:solidFill>
                  <a:srgbClr val="385522"/>
                </a:solidFill>
                <a:latin typeface="Times New Roman"/>
                <a:cs typeface="Times New Roman"/>
              </a:rPr>
              <a:t>Adoption</a:t>
            </a:r>
            <a:r>
              <a:rPr sz="1600" spc="-35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85522"/>
                </a:solidFill>
                <a:latin typeface="Times New Roman"/>
                <a:cs typeface="Times New Roman"/>
              </a:rPr>
              <a:t>of</a:t>
            </a:r>
            <a:r>
              <a:rPr sz="1600" spc="-35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85522"/>
                </a:solidFill>
                <a:latin typeface="Times New Roman"/>
                <a:cs typeface="Times New Roman"/>
              </a:rPr>
              <a:t>UPI</a:t>
            </a:r>
            <a:r>
              <a:rPr sz="1600" spc="-35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85522"/>
                </a:solidFill>
                <a:latin typeface="Times New Roman"/>
                <a:cs typeface="Times New Roman"/>
              </a:rPr>
              <a:t>and</a:t>
            </a:r>
            <a:r>
              <a:rPr sz="1600" spc="-25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385522"/>
                </a:solidFill>
                <a:latin typeface="Times New Roman"/>
                <a:cs typeface="Times New Roman"/>
              </a:rPr>
              <a:t>Cashless</a:t>
            </a:r>
            <a:r>
              <a:rPr sz="1600" spc="-30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385522"/>
                </a:solidFill>
                <a:latin typeface="Times New Roman"/>
                <a:cs typeface="Times New Roman"/>
              </a:rPr>
              <a:t>Economy</a:t>
            </a:r>
            <a:endParaRPr sz="1600">
              <a:latin typeface="Times New Roman"/>
              <a:cs typeface="Times New Roman"/>
            </a:endParaRPr>
          </a:p>
          <a:p>
            <a:pPr marL="179133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Investigation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3126" y="0"/>
            <a:ext cx="59055" cy="10692765"/>
          </a:xfrm>
          <a:custGeom>
            <a:avLst/>
            <a:gdLst/>
            <a:ahLst/>
            <a:cxnLst/>
            <a:rect l="l" t="t" r="r" b="b"/>
            <a:pathLst>
              <a:path w="59054" h="10692765">
                <a:moveTo>
                  <a:pt x="58675" y="0"/>
                </a:moveTo>
                <a:lnTo>
                  <a:pt x="0" y="10692383"/>
                </a:lnTo>
              </a:path>
            </a:pathLst>
          </a:custGeom>
          <a:ln w="190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23845" y="8169402"/>
            <a:ext cx="4568190" cy="106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85522"/>
                </a:solidFill>
                <a:latin typeface="Times New Roman"/>
                <a:cs typeface="Times New Roman"/>
              </a:rPr>
              <a:t>Submitted</a:t>
            </a:r>
            <a:r>
              <a:rPr sz="1400" b="1" spc="-10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385522"/>
                </a:solidFill>
                <a:latin typeface="Times New Roman"/>
                <a:cs typeface="Times New Roman"/>
              </a:rPr>
              <a:t>by: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spc="50" dirty="0">
                <a:solidFill>
                  <a:srgbClr val="385522"/>
                </a:solidFill>
                <a:latin typeface="Arial"/>
                <a:cs typeface="Arial"/>
              </a:rPr>
              <a:t>Rehan,</a:t>
            </a:r>
            <a:r>
              <a:rPr sz="1600" spc="-20" dirty="0">
                <a:solidFill>
                  <a:srgbClr val="385522"/>
                </a:solidFill>
                <a:latin typeface="Arial"/>
                <a:cs typeface="Arial"/>
              </a:rPr>
              <a:t> </a:t>
            </a:r>
            <a:r>
              <a:rPr sz="1600" spc="55" dirty="0">
                <a:solidFill>
                  <a:srgbClr val="385522"/>
                </a:solidFill>
                <a:latin typeface="Arial"/>
                <a:cs typeface="Arial"/>
              </a:rPr>
              <a:t>Soham,</a:t>
            </a:r>
            <a:r>
              <a:rPr sz="1600" spc="-20" dirty="0">
                <a:solidFill>
                  <a:srgbClr val="385522"/>
                </a:solidFill>
                <a:latin typeface="Arial"/>
                <a:cs typeface="Arial"/>
              </a:rPr>
              <a:t> </a:t>
            </a:r>
            <a:r>
              <a:rPr sz="1600" spc="65" dirty="0">
                <a:solidFill>
                  <a:srgbClr val="385522"/>
                </a:solidFill>
                <a:latin typeface="Arial"/>
                <a:cs typeface="Arial"/>
              </a:rPr>
              <a:t>Grishma,</a:t>
            </a:r>
            <a:r>
              <a:rPr sz="1600" spc="-20" dirty="0">
                <a:solidFill>
                  <a:srgbClr val="385522"/>
                </a:solidFill>
                <a:latin typeface="Arial"/>
                <a:cs typeface="Arial"/>
              </a:rPr>
              <a:t> </a:t>
            </a:r>
            <a:r>
              <a:rPr sz="1600" spc="70" dirty="0">
                <a:solidFill>
                  <a:srgbClr val="385522"/>
                </a:solidFill>
                <a:latin typeface="Arial"/>
                <a:cs typeface="Arial"/>
              </a:rPr>
              <a:t>Khushi,</a:t>
            </a:r>
            <a:r>
              <a:rPr sz="1600" spc="-35" dirty="0">
                <a:solidFill>
                  <a:srgbClr val="385522"/>
                </a:solidFill>
                <a:latin typeface="Arial"/>
                <a:cs typeface="Arial"/>
              </a:rPr>
              <a:t> </a:t>
            </a:r>
            <a:r>
              <a:rPr sz="1600" spc="75" dirty="0">
                <a:solidFill>
                  <a:srgbClr val="385522"/>
                </a:solidFill>
                <a:latin typeface="Arial"/>
                <a:cs typeface="Arial"/>
              </a:rPr>
              <a:t>and</a:t>
            </a:r>
            <a:r>
              <a:rPr sz="1600" spc="-40" dirty="0">
                <a:solidFill>
                  <a:srgbClr val="385522"/>
                </a:solidFill>
                <a:latin typeface="Arial"/>
                <a:cs typeface="Arial"/>
              </a:rPr>
              <a:t> </a:t>
            </a:r>
            <a:r>
              <a:rPr sz="1600" spc="60" dirty="0">
                <a:solidFill>
                  <a:srgbClr val="385522"/>
                </a:solidFill>
                <a:latin typeface="Arial"/>
                <a:cs typeface="Arial"/>
              </a:rPr>
              <a:t>Pradnya</a:t>
            </a:r>
            <a:endParaRPr sz="1600">
              <a:latin typeface="Arial"/>
              <a:cs typeface="Arial"/>
            </a:endParaRPr>
          </a:p>
          <a:p>
            <a:pPr marL="3044190">
              <a:lnSpc>
                <a:spcPts val="1420"/>
              </a:lnSpc>
              <a:spcBef>
                <a:spcPts val="1635"/>
              </a:spcBef>
            </a:pPr>
            <a:r>
              <a:rPr sz="1200" dirty="0">
                <a:solidFill>
                  <a:srgbClr val="385522"/>
                </a:solidFill>
                <a:latin typeface="Times New Roman"/>
                <a:cs typeface="Times New Roman"/>
              </a:rPr>
              <a:t>Under</a:t>
            </a:r>
            <a:r>
              <a:rPr sz="1200" spc="-30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85522"/>
                </a:solidFill>
                <a:latin typeface="Times New Roman"/>
                <a:cs typeface="Times New Roman"/>
              </a:rPr>
              <a:t>the</a:t>
            </a:r>
            <a:r>
              <a:rPr sz="1200" spc="-35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85522"/>
                </a:solidFill>
                <a:latin typeface="Times New Roman"/>
                <a:cs typeface="Times New Roman"/>
              </a:rPr>
              <a:t>Guidance</a:t>
            </a:r>
            <a:r>
              <a:rPr sz="1200" spc="-30" dirty="0">
                <a:solidFill>
                  <a:srgbClr val="385522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85522"/>
                </a:solidFill>
                <a:latin typeface="Times New Roman"/>
                <a:cs typeface="Times New Roman"/>
              </a:rPr>
              <a:t>of:</a:t>
            </a:r>
            <a:endParaRPr sz="1200">
              <a:latin typeface="Times New Roman"/>
              <a:cs typeface="Times New Roman"/>
            </a:endParaRPr>
          </a:p>
          <a:p>
            <a:pPr marR="82550" algn="r">
              <a:lnSpc>
                <a:spcPts val="1420"/>
              </a:lnSpc>
            </a:pPr>
            <a:r>
              <a:rPr sz="1200" u="sng" dirty="0">
                <a:solidFill>
                  <a:srgbClr val="385522"/>
                </a:solidFill>
                <a:uFill>
                  <a:solidFill>
                    <a:srgbClr val="385522"/>
                  </a:solidFill>
                </a:uFill>
                <a:latin typeface="Arial"/>
                <a:cs typeface="Arial"/>
              </a:rPr>
              <a:t>DR.</a:t>
            </a:r>
            <a:r>
              <a:rPr sz="1200" u="sng" spc="110" dirty="0">
                <a:solidFill>
                  <a:srgbClr val="385522"/>
                </a:solidFill>
                <a:uFill>
                  <a:solidFill>
                    <a:srgbClr val="385522"/>
                  </a:solidFill>
                </a:uFill>
                <a:latin typeface="Arial"/>
                <a:cs typeface="Arial"/>
              </a:rPr>
              <a:t> </a:t>
            </a:r>
            <a:r>
              <a:rPr sz="1200" u="sng" dirty="0">
                <a:solidFill>
                  <a:srgbClr val="385522"/>
                </a:solidFill>
                <a:uFill>
                  <a:solidFill>
                    <a:srgbClr val="385522"/>
                  </a:solidFill>
                </a:uFill>
                <a:latin typeface="Arial"/>
                <a:cs typeface="Arial"/>
              </a:rPr>
              <a:t>Shiji</a:t>
            </a:r>
            <a:r>
              <a:rPr sz="1200" u="sng" spc="110" dirty="0">
                <a:solidFill>
                  <a:srgbClr val="385522"/>
                </a:solidFill>
                <a:uFill>
                  <a:solidFill>
                    <a:srgbClr val="385522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45" dirty="0">
                <a:solidFill>
                  <a:srgbClr val="385522"/>
                </a:solidFill>
                <a:uFill>
                  <a:solidFill>
                    <a:srgbClr val="385522"/>
                  </a:solidFill>
                </a:uFill>
                <a:latin typeface="Arial"/>
                <a:cs typeface="Arial"/>
              </a:rPr>
              <a:t>Johnson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2316" y="9877652"/>
            <a:ext cx="4853305" cy="4381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Empowering</a:t>
            </a:r>
            <a:r>
              <a:rPr sz="1200" spc="-45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India’s</a:t>
            </a:r>
            <a:r>
              <a:rPr sz="1200" spc="-45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Digital</a:t>
            </a:r>
            <a:r>
              <a:rPr sz="1200" spc="-45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Future</a:t>
            </a:r>
            <a:r>
              <a:rPr sz="1200" spc="-30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through</a:t>
            </a:r>
            <a:r>
              <a:rPr sz="1200" spc="-45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dirty="0">
                <a:solidFill>
                  <a:srgbClr val="F8CAAC"/>
                </a:solidFill>
                <a:latin typeface="Arial Black"/>
                <a:cs typeface="Arial Black"/>
              </a:rPr>
              <a:t>Data</a:t>
            </a:r>
            <a:r>
              <a:rPr sz="1200" spc="-45" dirty="0">
                <a:solidFill>
                  <a:srgbClr val="F8CAAC"/>
                </a:solidFill>
                <a:latin typeface="Arial Black"/>
                <a:cs typeface="Arial Black"/>
              </a:rPr>
              <a:t> </a:t>
            </a:r>
            <a:r>
              <a:rPr sz="1200" spc="-10" dirty="0">
                <a:solidFill>
                  <a:srgbClr val="F8CAAC"/>
                </a:solidFill>
                <a:latin typeface="Arial Black"/>
                <a:cs typeface="Arial Black"/>
              </a:rPr>
              <a:t>Science…</a:t>
            </a:r>
            <a:endParaRPr sz="1200">
              <a:latin typeface="Arial Black"/>
              <a:cs typeface="Arial Black"/>
            </a:endParaRPr>
          </a:p>
          <a:p>
            <a:pPr marL="90170">
              <a:lnSpc>
                <a:spcPct val="100000"/>
              </a:lnSpc>
              <a:spcBef>
                <a:spcPts val="235"/>
              </a:spcBef>
            </a:pPr>
            <a:r>
              <a:rPr sz="1100" dirty="0">
                <a:solidFill>
                  <a:srgbClr val="F4AF83"/>
                </a:solidFill>
                <a:latin typeface="Arial"/>
                <a:cs typeface="Arial"/>
              </a:rPr>
              <a:t>Date:10</a:t>
            </a:r>
            <a:r>
              <a:rPr sz="1100" spc="-20" dirty="0">
                <a:solidFill>
                  <a:srgbClr val="F4AF83"/>
                </a:solidFill>
                <a:latin typeface="Arial"/>
                <a:cs typeface="Arial"/>
              </a:rPr>
              <a:t> </a:t>
            </a:r>
            <a:r>
              <a:rPr sz="1100" u="sng" dirty="0">
                <a:solidFill>
                  <a:srgbClr val="F4AF83"/>
                </a:solidFill>
                <a:uFill>
                  <a:solidFill>
                    <a:srgbClr val="F4AF83"/>
                  </a:solidFill>
                </a:uFill>
                <a:latin typeface="Arial"/>
                <a:cs typeface="Arial"/>
              </a:rPr>
              <a:t>Nov</a:t>
            </a:r>
            <a:r>
              <a:rPr sz="1100" u="sng" spc="-30" dirty="0">
                <a:solidFill>
                  <a:srgbClr val="F4AF83"/>
                </a:solidFill>
                <a:uFill>
                  <a:solidFill>
                    <a:srgbClr val="F4AF83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20" dirty="0">
                <a:solidFill>
                  <a:srgbClr val="F4AF83"/>
                </a:solidFill>
                <a:uFill>
                  <a:solidFill>
                    <a:srgbClr val="F4AF83"/>
                  </a:solidFill>
                </a:uFill>
                <a:latin typeface="Arial"/>
                <a:cs typeface="Arial"/>
              </a:rPr>
              <a:t>2025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0375" marR="5080" indent="-448309">
              <a:lnSpc>
                <a:spcPct val="109800"/>
              </a:lnSpc>
              <a:spcBef>
                <a:spcPts val="100"/>
              </a:spcBef>
            </a:pPr>
            <a:r>
              <a:rPr spc="720" dirty="0"/>
              <a:t>CERTIFICATE</a:t>
            </a:r>
            <a:r>
              <a:rPr spc="305" dirty="0"/>
              <a:t> </a:t>
            </a:r>
            <a:r>
              <a:rPr spc="790" dirty="0"/>
              <a:t>OF </a:t>
            </a:r>
            <a:r>
              <a:rPr spc="715" dirty="0"/>
              <a:t>COMPLETION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6913" y="2012459"/>
            <a:ext cx="2861310" cy="9042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600" b="0" dirty="0">
                <a:solidFill>
                  <a:srgbClr val="385522"/>
                </a:solidFill>
                <a:latin typeface="Calibri Light"/>
                <a:cs typeface="Calibri Light"/>
              </a:rPr>
              <a:t>Smt.</a:t>
            </a:r>
            <a:r>
              <a:rPr sz="1600" b="0" spc="-40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385522"/>
                </a:solidFill>
                <a:latin typeface="Calibri Light"/>
                <a:cs typeface="Calibri Light"/>
              </a:rPr>
              <a:t>C.H.M.</a:t>
            </a:r>
            <a:r>
              <a:rPr sz="1600" b="0" spc="-45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385522"/>
                </a:solidFill>
                <a:latin typeface="Calibri Light"/>
                <a:cs typeface="Calibri Light"/>
              </a:rPr>
              <a:t>College</a:t>
            </a:r>
            <a:r>
              <a:rPr sz="1600" b="0" spc="-45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385522"/>
                </a:solidFill>
                <a:latin typeface="Calibri Light"/>
                <a:cs typeface="Calibri Light"/>
              </a:rPr>
              <a:t>(Autonomous)</a:t>
            </a:r>
            <a:endParaRPr sz="1600">
              <a:latin typeface="Calibri Light"/>
              <a:cs typeface="Calibri Light"/>
            </a:endParaRPr>
          </a:p>
          <a:p>
            <a:pPr marR="6350" algn="r">
              <a:lnSpc>
                <a:spcPct val="100000"/>
              </a:lnSpc>
              <a:spcBef>
                <a:spcPts val="760"/>
              </a:spcBef>
            </a:pPr>
            <a:r>
              <a:rPr sz="1200" b="0" dirty="0">
                <a:solidFill>
                  <a:srgbClr val="385522"/>
                </a:solidFill>
                <a:latin typeface="Calibri Light"/>
                <a:cs typeface="Calibri Light"/>
              </a:rPr>
              <a:t>Department</a:t>
            </a:r>
            <a:r>
              <a:rPr sz="1200" b="0" spc="-25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385522"/>
                </a:solidFill>
                <a:latin typeface="Calibri Light"/>
                <a:cs typeface="Calibri Light"/>
              </a:rPr>
              <a:t>of</a:t>
            </a:r>
            <a:r>
              <a:rPr sz="1200" b="0" spc="-25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385522"/>
                </a:solidFill>
                <a:latin typeface="Calibri Light"/>
                <a:cs typeface="Calibri Light"/>
              </a:rPr>
              <a:t>Data</a:t>
            </a:r>
            <a:r>
              <a:rPr sz="1200" b="0" spc="-30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385522"/>
                </a:solidFill>
                <a:latin typeface="Calibri Light"/>
                <a:cs typeface="Calibri Light"/>
              </a:rPr>
              <a:t>Science</a:t>
            </a:r>
            <a:endParaRPr sz="1200">
              <a:latin typeface="Calibri Light"/>
              <a:cs typeface="Calibri Light"/>
            </a:endParaRPr>
          </a:p>
          <a:p>
            <a:pPr marR="5080" algn="r">
              <a:lnSpc>
                <a:spcPct val="100000"/>
              </a:lnSpc>
              <a:spcBef>
                <a:spcPts val="350"/>
              </a:spcBef>
            </a:pPr>
            <a:r>
              <a:rPr sz="1200" b="0" dirty="0">
                <a:solidFill>
                  <a:srgbClr val="385522"/>
                </a:solidFill>
                <a:latin typeface="Calibri Light"/>
                <a:cs typeface="Calibri Light"/>
              </a:rPr>
              <a:t>Mumbai</a:t>
            </a:r>
            <a:r>
              <a:rPr sz="1200" b="0" spc="5" dirty="0">
                <a:solidFill>
                  <a:srgbClr val="38552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385522"/>
                </a:solidFill>
                <a:latin typeface="Calibri Light"/>
                <a:cs typeface="Calibri Light"/>
              </a:rPr>
              <a:t>University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spc="-15" dirty="0"/>
              <a:t> </a:t>
            </a:r>
            <a:r>
              <a:rPr spc="-10" dirty="0"/>
              <a:t>certificate</a:t>
            </a:r>
            <a:r>
              <a:rPr spc="-1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proudly</a:t>
            </a:r>
            <a:r>
              <a:rPr spc="-15" dirty="0"/>
              <a:t> </a:t>
            </a:r>
            <a:r>
              <a:rPr dirty="0"/>
              <a:t>awarded</a:t>
            </a:r>
            <a:r>
              <a:rPr spc="-10" dirty="0"/>
              <a:t> </a:t>
            </a:r>
            <a:r>
              <a:rPr spc="-25" dirty="0"/>
              <a:t>to:</a:t>
            </a: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b="1" dirty="0">
                <a:latin typeface="Calibri"/>
                <a:cs typeface="Calibri"/>
              </a:rPr>
              <a:t>Rehan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Khan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11,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Soham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Morye</a:t>
            </a:r>
            <a:r>
              <a:rPr b="1" spc="250" dirty="0">
                <a:latin typeface="Calibri"/>
                <a:cs typeface="Calibri"/>
              </a:rPr>
              <a:t> </a:t>
            </a:r>
            <a:r>
              <a:rPr b="1" dirty="0">
                <a:latin typeface="Times New Roman"/>
                <a:cs typeface="Times New Roman"/>
              </a:rPr>
              <a:t>19</a:t>
            </a:r>
            <a:r>
              <a:rPr b="1" dirty="0">
                <a:latin typeface="Calibri"/>
                <a:cs typeface="Calibri"/>
              </a:rPr>
              <a:t>,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Grishma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Patil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24,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Pradnya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Ughade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33,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Khushi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Mishra</a:t>
            </a:r>
            <a:r>
              <a:rPr b="1" spc="-25" dirty="0">
                <a:latin typeface="Calibri"/>
                <a:cs typeface="Calibri"/>
              </a:rPr>
              <a:t> 17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b="1" spc="-2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/>
              <a:t>for</a:t>
            </a:r>
            <a:r>
              <a:rPr spc="-45" dirty="0"/>
              <a:t> </a:t>
            </a:r>
            <a:r>
              <a:rPr dirty="0"/>
              <a:t>successfully</a:t>
            </a:r>
            <a:r>
              <a:rPr spc="-30" dirty="0"/>
              <a:t> </a:t>
            </a:r>
            <a:r>
              <a:rPr dirty="0"/>
              <a:t>completing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b="1" dirty="0">
                <a:latin typeface="Times New Roman"/>
                <a:cs typeface="Times New Roman"/>
              </a:rPr>
              <a:t>Field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Project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Report</a:t>
            </a:r>
            <a:r>
              <a:rPr spc="-10" dirty="0"/>
              <a:t>.</a:t>
            </a: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/>
              <a:t>Title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27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“Adoption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UPI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Cashless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Economy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-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field</a:t>
            </a:r>
            <a:r>
              <a:rPr b="1" spc="-10" dirty="0">
                <a:latin typeface="Times New Roman"/>
                <a:cs typeface="Times New Roman"/>
              </a:rPr>
              <a:t> investigation”</a:t>
            </a:r>
          </a:p>
          <a:p>
            <a:pPr marL="12700">
              <a:lnSpc>
                <a:spcPts val="1410"/>
              </a:lnSpc>
              <a:spcBef>
                <a:spcPts val="1330"/>
              </a:spcBef>
            </a:pPr>
            <a:r>
              <a:rPr dirty="0"/>
              <a:t>during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academic</a:t>
            </a:r>
            <a:r>
              <a:rPr spc="-30" dirty="0"/>
              <a:t> </a:t>
            </a:r>
            <a:r>
              <a:rPr dirty="0"/>
              <a:t>year</a:t>
            </a:r>
            <a:r>
              <a:rPr spc="-10" dirty="0"/>
              <a:t> </a:t>
            </a:r>
            <a:r>
              <a:rPr b="1" spc="-10" dirty="0">
                <a:latin typeface="Times New Roman"/>
                <a:cs typeface="Times New Roman"/>
              </a:rPr>
              <a:t>2025-</a:t>
            </a:r>
            <a:r>
              <a:rPr b="1" dirty="0">
                <a:latin typeface="Times New Roman"/>
                <a:cs typeface="Times New Roman"/>
              </a:rPr>
              <a:t>2026</a:t>
            </a:r>
            <a:r>
              <a:rPr dirty="0"/>
              <a:t>,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partial</a:t>
            </a:r>
            <a:r>
              <a:rPr spc="-25" dirty="0"/>
              <a:t> </a:t>
            </a:r>
            <a:r>
              <a:rPr dirty="0"/>
              <a:t>fulfillment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requirements</a:t>
            </a:r>
            <a:r>
              <a:rPr spc="-2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25" dirty="0"/>
              <a:t>the</a:t>
            </a:r>
          </a:p>
          <a:p>
            <a:pPr marL="12700">
              <a:lnSpc>
                <a:spcPts val="1410"/>
              </a:lnSpc>
            </a:pPr>
            <a:r>
              <a:rPr b="1" dirty="0">
                <a:latin typeface="Times New Roman"/>
                <a:cs typeface="Times New Roman"/>
              </a:rPr>
              <a:t>Bachelor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Science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(Data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Science)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dirty="0"/>
              <a:t>degree</a:t>
            </a:r>
            <a:r>
              <a:rPr spc="-35" dirty="0"/>
              <a:t> </a:t>
            </a:r>
            <a:r>
              <a:rPr dirty="0"/>
              <a:t>under</a:t>
            </a:r>
            <a:r>
              <a:rPr spc="-20" dirty="0"/>
              <a:t> </a:t>
            </a:r>
            <a:r>
              <a:rPr b="1" dirty="0">
                <a:latin typeface="Times New Roman"/>
                <a:cs typeface="Times New Roman"/>
              </a:rPr>
              <a:t>Mumbai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University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pc="-10" dirty="0"/>
          </a:p>
          <a:p>
            <a:pPr marL="12700" marR="5080">
              <a:lnSpc>
                <a:spcPts val="1380"/>
              </a:lnSpc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project</a:t>
            </a:r>
            <a:r>
              <a:rPr spc="-30" dirty="0"/>
              <a:t> </a:t>
            </a:r>
            <a:r>
              <a:rPr dirty="0"/>
              <a:t>reflects</a:t>
            </a:r>
            <a:r>
              <a:rPr spc="-30" dirty="0"/>
              <a:t> </a:t>
            </a:r>
            <a:r>
              <a:rPr dirty="0"/>
              <a:t>exceptional</a:t>
            </a:r>
            <a:r>
              <a:rPr spc="-30" dirty="0"/>
              <a:t> </a:t>
            </a:r>
            <a:r>
              <a:rPr dirty="0"/>
              <a:t>teamwork,</a:t>
            </a:r>
            <a:r>
              <a:rPr spc="-20" dirty="0"/>
              <a:t> </a:t>
            </a:r>
            <a:r>
              <a:rPr dirty="0"/>
              <a:t>analytical</a:t>
            </a:r>
            <a:r>
              <a:rPr spc="-30" dirty="0"/>
              <a:t> </a:t>
            </a:r>
            <a:r>
              <a:rPr dirty="0"/>
              <a:t>thinking,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professional</a:t>
            </a:r>
            <a:r>
              <a:rPr spc="-30" dirty="0"/>
              <a:t> </a:t>
            </a:r>
            <a:r>
              <a:rPr spc="-10" dirty="0"/>
              <a:t>understanding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digital </a:t>
            </a:r>
            <a:r>
              <a:rPr dirty="0"/>
              <a:t>payment</a:t>
            </a:r>
            <a:r>
              <a:rPr spc="-30" dirty="0"/>
              <a:t> </a:t>
            </a:r>
            <a:r>
              <a:rPr dirty="0"/>
              <a:t>systems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their</a:t>
            </a:r>
            <a:r>
              <a:rPr spc="-30" dirty="0"/>
              <a:t> </a:t>
            </a:r>
            <a:r>
              <a:rPr dirty="0"/>
              <a:t>adoption</a:t>
            </a:r>
            <a:r>
              <a:rPr spc="-30" dirty="0"/>
              <a:t> </a:t>
            </a:r>
            <a:r>
              <a:rPr dirty="0"/>
              <a:t>among</a:t>
            </a:r>
            <a:r>
              <a:rPr spc="-25" dirty="0"/>
              <a:t> </a:t>
            </a:r>
            <a:r>
              <a:rPr spc="-10" dirty="0"/>
              <a:t>youth.</a:t>
            </a:r>
          </a:p>
          <a:p>
            <a:pPr marL="12700">
              <a:lnSpc>
                <a:spcPts val="1290"/>
              </a:lnSpc>
              <a:spcBef>
                <a:spcPts val="1315"/>
              </a:spcBef>
            </a:pPr>
            <a:r>
              <a:rPr sz="1100" dirty="0"/>
              <a:t>Guided</a:t>
            </a:r>
            <a:r>
              <a:rPr sz="1100" spc="-10" dirty="0"/>
              <a:t> </a:t>
            </a:r>
            <a:r>
              <a:rPr sz="1100" spc="-25" dirty="0"/>
              <a:t>by:</a:t>
            </a:r>
            <a:endParaRPr sz="1100"/>
          </a:p>
          <a:p>
            <a:pPr marL="12700">
              <a:lnSpc>
                <a:spcPts val="1260"/>
              </a:lnSpc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DR.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Shiji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Johnson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65"/>
              </a:lnSpc>
            </a:pPr>
            <a:r>
              <a:rPr sz="1100" i="1" dirty="0">
                <a:latin typeface="Times New Roman"/>
                <a:cs typeface="Times New Roman"/>
              </a:rPr>
              <a:t>Head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of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Department,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b="1" i="1" dirty="0">
                <a:latin typeface="Times New Roman"/>
                <a:cs typeface="Times New Roman"/>
              </a:rPr>
              <a:t>Data</a:t>
            </a:r>
            <a:r>
              <a:rPr sz="1100" b="1" i="1" spc="-30" dirty="0">
                <a:latin typeface="Times New Roman"/>
                <a:cs typeface="Times New Roman"/>
              </a:rPr>
              <a:t> </a:t>
            </a:r>
            <a:r>
              <a:rPr sz="1100" b="1" i="1" spc="-10" dirty="0">
                <a:latin typeface="Times New Roman"/>
                <a:cs typeface="Times New Roman"/>
              </a:rPr>
              <a:t>Science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5"/>
              </a:lnSpc>
            </a:pPr>
            <a:r>
              <a:rPr sz="1100" i="1" dirty="0">
                <a:latin typeface="Times New Roman"/>
                <a:cs typeface="Times New Roman"/>
              </a:rPr>
              <a:t>Smt.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C.H.M.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College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(Autonomous),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b="1" i="1" dirty="0">
                <a:latin typeface="Times New Roman"/>
                <a:cs typeface="Times New Roman"/>
              </a:rPr>
              <a:t>Mumbai</a:t>
            </a:r>
            <a:r>
              <a:rPr sz="1100" b="1" i="1" spc="-35" dirty="0">
                <a:latin typeface="Times New Roman"/>
                <a:cs typeface="Times New Roman"/>
              </a:rPr>
              <a:t> </a:t>
            </a:r>
            <a:r>
              <a:rPr sz="1100" b="1" i="1" spc="-10" dirty="0">
                <a:latin typeface="Times New Roman"/>
                <a:cs typeface="Times New Roman"/>
              </a:rPr>
              <a:t>University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0669" y="9170669"/>
            <a:ext cx="252539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41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Date:</a:t>
            </a:r>
            <a:r>
              <a:rPr sz="1200" dirty="0">
                <a:latin typeface="Times New Roman"/>
                <a:cs typeface="Times New Roman"/>
              </a:rPr>
              <a:t>10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November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2025</a:t>
            </a:r>
            <a:endParaRPr sz="1200">
              <a:latin typeface="Times New Roman"/>
              <a:cs typeface="Times New Roman"/>
            </a:endParaRPr>
          </a:p>
          <a:p>
            <a:pPr marR="5080" algn="r">
              <a:lnSpc>
                <a:spcPts val="1410"/>
              </a:lnSpc>
            </a:pPr>
            <a:r>
              <a:rPr sz="1200" b="1" dirty="0">
                <a:latin typeface="Times New Roman"/>
                <a:cs typeface="Times New Roman"/>
              </a:rPr>
              <a:t>Place: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Smt.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C.H.M.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College,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Ulhasnagar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1795" y="7049769"/>
            <a:ext cx="1449705" cy="10826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76240" y="7759445"/>
            <a:ext cx="19431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Signature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Principal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4436" y="7759445"/>
            <a:ext cx="1604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Signature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HOD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3831"/>
            <a:ext cx="6658609" cy="5805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E5395"/>
                </a:solidFill>
                <a:latin typeface="Calibri"/>
                <a:cs typeface="Calibri"/>
              </a:rPr>
              <a:t>Acknowledgment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800">
              <a:latin typeface="Calibri"/>
              <a:cs typeface="Calibri"/>
            </a:endParaRPr>
          </a:p>
          <a:p>
            <a:pPr marL="12700" marR="24765">
              <a:lnSpc>
                <a:spcPct val="109800"/>
              </a:lnSpc>
            </a:pP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would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express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heartfelt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gratitude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Shiji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Johnson,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of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Department,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Science,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Smt.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C.H.M.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College,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invaluable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guidance, </a:t>
            </a:r>
            <a:r>
              <a:rPr sz="1600" dirty="0">
                <a:latin typeface="Calibri"/>
                <a:cs typeface="Calibri"/>
              </a:rPr>
              <a:t>continuous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encouragement,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unwavering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support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throughout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completion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field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project.</a:t>
            </a:r>
            <a:endParaRPr sz="1600">
              <a:latin typeface="Calibri"/>
              <a:cs typeface="Calibri"/>
            </a:endParaRPr>
          </a:p>
          <a:p>
            <a:pPr marL="12700" marR="278765">
              <a:lnSpc>
                <a:spcPct val="1100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sincerely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thankful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Department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Science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providing</a:t>
            </a:r>
            <a:r>
              <a:rPr sz="1600" spc="-25" dirty="0">
                <a:latin typeface="Calibri"/>
                <a:cs typeface="Calibri"/>
              </a:rPr>
              <a:t> us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academic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foundation,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tools,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learning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environment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that </a:t>
            </a:r>
            <a:r>
              <a:rPr sz="1600" spc="-10" dirty="0">
                <a:latin typeface="Calibri"/>
                <a:cs typeface="Calibri"/>
              </a:rPr>
              <a:t>empowered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analytical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concepts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real-world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  <a:p>
            <a:pPr marL="12700" marR="320040">
              <a:lnSpc>
                <a:spcPct val="109700"/>
              </a:lnSpc>
              <a:spcBef>
                <a:spcPts val="800"/>
              </a:spcBef>
            </a:pPr>
            <a:r>
              <a:rPr sz="1600" dirty="0">
                <a:latin typeface="Calibri"/>
                <a:cs typeface="Calibri"/>
              </a:rPr>
              <a:t>Our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appreciation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extends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survey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participants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their </a:t>
            </a:r>
            <a:r>
              <a:rPr sz="1600" dirty="0">
                <a:latin typeface="Calibri"/>
                <a:cs typeface="Calibri"/>
              </a:rPr>
              <a:t>valuable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responses, </a:t>
            </a:r>
            <a:r>
              <a:rPr sz="1600" dirty="0">
                <a:latin typeface="Calibri"/>
                <a:cs typeface="Calibri"/>
              </a:rPr>
              <a:t>enabling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conduct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meaningful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data-</a:t>
            </a:r>
            <a:r>
              <a:rPr sz="1600" spc="-10" dirty="0">
                <a:latin typeface="Calibri"/>
                <a:cs typeface="Calibri"/>
              </a:rPr>
              <a:t>driven </a:t>
            </a:r>
            <a:r>
              <a:rPr sz="1600" dirty="0">
                <a:latin typeface="Calibri"/>
                <a:cs typeface="Calibri"/>
              </a:rPr>
              <a:t>analysis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UPI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adoption.</a:t>
            </a:r>
            <a:endParaRPr sz="1600">
              <a:latin typeface="Calibri"/>
              <a:cs typeface="Calibri"/>
            </a:endParaRPr>
          </a:p>
          <a:p>
            <a:pPr marL="12700" marR="57150">
              <a:lnSpc>
                <a:spcPct val="109800"/>
              </a:lnSpc>
              <a:spcBef>
                <a:spcPts val="810"/>
              </a:spcBef>
            </a:pPr>
            <a:r>
              <a:rPr sz="1600" dirty="0">
                <a:latin typeface="Calibri"/>
                <a:cs typeface="Calibri"/>
              </a:rPr>
              <a:t>Lastly,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would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acknowledge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consistent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teamwork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dedication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group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members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:-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Soham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Morye,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Rehan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Khan,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Grishma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Patil,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Khushi </a:t>
            </a:r>
            <a:r>
              <a:rPr sz="1600" dirty="0">
                <a:latin typeface="Calibri"/>
                <a:cs typeface="Calibri"/>
              </a:rPr>
              <a:t>Mishra,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Pradnya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Ughade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collaboration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individual</a:t>
            </a:r>
            <a:r>
              <a:rPr sz="1600" spc="-10" dirty="0">
                <a:latin typeface="Calibri"/>
                <a:cs typeface="Calibri"/>
              </a:rPr>
              <a:t> contributions </a:t>
            </a:r>
            <a:r>
              <a:rPr sz="1600" dirty="0">
                <a:latin typeface="Calibri"/>
                <a:cs typeface="Calibri"/>
              </a:rPr>
              <a:t>made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success.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report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represents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collective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effort,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analytical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mindset,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team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explore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India’s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digital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transformation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science.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172969"/>
            <a:ext cx="6546850" cy="638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1F3863"/>
                </a:solidFill>
                <a:latin typeface="Calibri Light"/>
                <a:cs typeface="Calibri Light"/>
              </a:rPr>
              <a:t>Executive</a:t>
            </a:r>
            <a:r>
              <a:rPr sz="1800" b="0" spc="-70" dirty="0">
                <a:solidFill>
                  <a:srgbClr val="1F3863"/>
                </a:solidFill>
                <a:latin typeface="Calibri Light"/>
                <a:cs typeface="Calibri Light"/>
              </a:rPr>
              <a:t> </a:t>
            </a:r>
            <a:r>
              <a:rPr sz="1800" b="0" spc="-10" dirty="0">
                <a:solidFill>
                  <a:srgbClr val="1F3863"/>
                </a:solidFill>
                <a:latin typeface="Calibri Light"/>
                <a:cs typeface="Calibri Light"/>
              </a:rPr>
              <a:t>Summary</a:t>
            </a:r>
            <a:endParaRPr sz="1800">
              <a:latin typeface="Calibri Light"/>
              <a:cs typeface="Calibri Light"/>
            </a:endParaRPr>
          </a:p>
          <a:p>
            <a:pPr marL="12700" marR="58419" algn="just">
              <a:lnSpc>
                <a:spcPct val="95700"/>
              </a:lnSpc>
              <a:spcBef>
                <a:spcPts val="1839"/>
              </a:spcBef>
            </a:pP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delivers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comprehensive,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data-</a:t>
            </a:r>
            <a:r>
              <a:rPr sz="1600" b="1" dirty="0">
                <a:latin typeface="Times New Roman"/>
                <a:cs typeface="Times New Roman"/>
              </a:rPr>
              <a:t>driven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study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on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adoption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of </a:t>
            </a:r>
            <a:r>
              <a:rPr sz="1600" b="1" dirty="0">
                <a:latin typeface="Times New Roman"/>
                <a:cs typeface="Times New Roman"/>
              </a:rPr>
              <a:t>UPI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growth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India’s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cashless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economy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highlighting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how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youth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are </a:t>
            </a:r>
            <a:r>
              <a:rPr sz="1600" dirty="0">
                <a:latin typeface="Times New Roman"/>
                <a:cs typeface="Times New Roman"/>
              </a:rPr>
              <a:t>shaping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future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transactions.</a:t>
            </a:r>
            <a:endParaRPr sz="1600">
              <a:latin typeface="Times New Roman"/>
              <a:cs typeface="Times New Roman"/>
            </a:endParaRPr>
          </a:p>
          <a:p>
            <a:pPr marL="12700" marR="228600">
              <a:lnSpc>
                <a:spcPct val="95800"/>
              </a:lnSpc>
              <a:spcBef>
                <a:spcPts val="1400"/>
              </a:spcBef>
            </a:pPr>
            <a:r>
              <a:rPr sz="1600" dirty="0">
                <a:latin typeface="Times New Roman"/>
                <a:cs typeface="Times New Roman"/>
              </a:rPr>
              <a:t>Primary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collected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nationwide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Google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Form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survey</a:t>
            </a:r>
            <a:r>
              <a:rPr sz="1600" spc="-10" dirty="0">
                <a:latin typeface="Times New Roman"/>
                <a:cs typeface="Times New Roman"/>
              </a:rPr>
              <a:t>, </a:t>
            </a:r>
            <a:r>
              <a:rPr sz="1600" dirty="0">
                <a:latin typeface="Times New Roman"/>
                <a:cs typeface="Times New Roman"/>
              </a:rPr>
              <a:t>capturing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60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valid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responses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students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young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adults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across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different </a:t>
            </a:r>
            <a:r>
              <a:rPr sz="1600" dirty="0">
                <a:latin typeface="Times New Roman"/>
                <a:cs typeface="Times New Roman"/>
              </a:rPr>
              <a:t>regions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India.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responses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refined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Power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Query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remove inconsistencies,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standardize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entries,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ensure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accuracy.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95800"/>
              </a:lnSpc>
              <a:spcBef>
                <a:spcPts val="1400"/>
              </a:spcBef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cleaned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dataset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analyzed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Microsoft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Excel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PivotTables, </a:t>
            </a:r>
            <a:r>
              <a:rPr sz="1600" dirty="0">
                <a:latin typeface="Times New Roman"/>
                <a:cs typeface="Times New Roman"/>
              </a:rPr>
              <a:t>charts,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KPI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dashboards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identify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behavioral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patterns.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Results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revealed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93%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respondents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actively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UPI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Google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Pay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(46%)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 </a:t>
            </a:r>
            <a:r>
              <a:rPr sz="1600" b="1" dirty="0">
                <a:latin typeface="Times New Roman"/>
                <a:cs typeface="Times New Roman"/>
              </a:rPr>
              <a:t>PhonePe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(32%)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leading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preferred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applications.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analysis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found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that </a:t>
            </a:r>
            <a:r>
              <a:rPr sz="1600" b="1" spc="-10" dirty="0">
                <a:latin typeface="Times New Roman"/>
                <a:cs typeface="Times New Roman"/>
              </a:rPr>
              <a:t>18–</a:t>
            </a:r>
            <a:r>
              <a:rPr sz="1600" b="1" spc="-20" dirty="0">
                <a:latin typeface="Times New Roman"/>
                <a:cs typeface="Times New Roman"/>
              </a:rPr>
              <a:t>25-</a:t>
            </a:r>
            <a:r>
              <a:rPr sz="1600" b="1" spc="-10" dirty="0">
                <a:latin typeface="Times New Roman"/>
                <a:cs typeface="Times New Roman"/>
              </a:rPr>
              <a:t>year-</a:t>
            </a:r>
            <a:r>
              <a:rPr sz="1600" b="1" dirty="0">
                <a:latin typeface="Times New Roman"/>
                <a:cs typeface="Times New Roman"/>
              </a:rPr>
              <a:t>olds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highest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transactions,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reflecting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Times New Roman"/>
                <a:cs typeface="Times New Roman"/>
              </a:rPr>
              <a:t>a </a:t>
            </a:r>
            <a:r>
              <a:rPr sz="1600" dirty="0">
                <a:latin typeface="Times New Roman"/>
                <a:cs typeface="Times New Roman"/>
              </a:rPr>
              <a:t>generational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shift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toward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fintech-</a:t>
            </a:r>
            <a:r>
              <a:rPr sz="1600" dirty="0">
                <a:latin typeface="Times New Roman"/>
                <a:cs typeface="Times New Roman"/>
              </a:rPr>
              <a:t>driven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convenience.</a:t>
            </a:r>
            <a:endParaRPr sz="1600">
              <a:latin typeface="Times New Roman"/>
              <a:cs typeface="Times New Roman"/>
            </a:endParaRPr>
          </a:p>
          <a:p>
            <a:pPr marL="12700" marR="22860">
              <a:lnSpc>
                <a:spcPct val="95900"/>
              </a:lnSpc>
              <a:spcBef>
                <a:spcPts val="1400"/>
              </a:spcBef>
            </a:pPr>
            <a:r>
              <a:rPr sz="1600" dirty="0">
                <a:latin typeface="Times New Roman"/>
                <a:cs typeface="Times New Roman"/>
              </a:rPr>
              <a:t>Insights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demonstrate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while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UPI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adoption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nearly </a:t>
            </a:r>
            <a:r>
              <a:rPr sz="1600" b="1" dirty="0">
                <a:latin typeface="Times New Roman"/>
                <a:cs typeface="Times New Roman"/>
              </a:rPr>
              <a:t>universal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among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students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challenges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transaction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delays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network </a:t>
            </a:r>
            <a:r>
              <a:rPr sz="1600" b="1" dirty="0">
                <a:latin typeface="Times New Roman"/>
                <a:cs typeface="Times New Roman"/>
              </a:rPr>
              <a:t>issues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security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concerns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persist.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These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findings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emphasize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importance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continuous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innovation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trust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sustaining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finance ecosystem.</a:t>
            </a:r>
            <a:endParaRPr sz="1600">
              <a:latin typeface="Times New Roman"/>
              <a:cs typeface="Times New Roman"/>
            </a:endParaRPr>
          </a:p>
          <a:p>
            <a:pPr marL="12700" marR="72390">
              <a:lnSpc>
                <a:spcPct val="95900"/>
              </a:lnSpc>
              <a:spcBef>
                <a:spcPts val="1400"/>
              </a:spcBef>
            </a:pP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combining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collection,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Power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Query–</a:t>
            </a:r>
            <a:r>
              <a:rPr sz="1600" b="1" dirty="0">
                <a:latin typeface="Times New Roman"/>
                <a:cs typeface="Times New Roman"/>
              </a:rPr>
              <a:t>based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cleaning,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Excel </a:t>
            </a:r>
            <a:r>
              <a:rPr sz="1600" b="1" dirty="0">
                <a:latin typeface="Times New Roman"/>
                <a:cs typeface="Times New Roman"/>
              </a:rPr>
              <a:t>dashboard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visualization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bridges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academic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learning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real-</a:t>
            </a:r>
            <a:r>
              <a:rPr sz="1600" spc="-10" dirty="0">
                <a:latin typeface="Times New Roman"/>
                <a:cs typeface="Times New Roman"/>
              </a:rPr>
              <a:t>world </a:t>
            </a:r>
            <a:r>
              <a:rPr sz="1600" dirty="0">
                <a:latin typeface="Times New Roman"/>
                <a:cs typeface="Times New Roman"/>
              </a:rPr>
              <a:t>financial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aligning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India’s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vision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becoming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cashless,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data-</a:t>
            </a:r>
            <a:r>
              <a:rPr sz="1600" b="1" dirty="0">
                <a:latin typeface="Times New Roman"/>
                <a:cs typeface="Times New Roman"/>
              </a:rPr>
              <a:t>driven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economy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6604" y="585469"/>
            <a:ext cx="3869689" cy="1934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3831"/>
            <a:ext cx="1222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10" dirty="0">
                <a:solidFill>
                  <a:srgbClr val="2E5395"/>
                </a:solidFill>
                <a:latin typeface="Calibri Light"/>
                <a:cs typeface="Calibri Light"/>
              </a:rPr>
              <a:t>Introduction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: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4704714"/>
            <a:ext cx="6647815" cy="53574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Background</a:t>
            </a:r>
            <a:endParaRPr sz="1200">
              <a:latin typeface="Calibri Light"/>
              <a:cs typeface="Calibri Light"/>
            </a:endParaRPr>
          </a:p>
          <a:p>
            <a:pPr marL="12700" marR="81280">
              <a:lnSpc>
                <a:spcPts val="1380"/>
              </a:lnSpc>
              <a:spcBef>
                <a:spcPts val="204"/>
              </a:spcBef>
            </a:pP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decade,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financial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ecosystem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undergone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major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transformation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by </a:t>
            </a:r>
            <a:r>
              <a:rPr sz="1200" spc="-10" dirty="0">
                <a:latin typeface="Times New Roman"/>
                <a:cs typeface="Times New Roman"/>
              </a:rPr>
              <a:t>innovations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fintech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government’s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 </a:t>
            </a:r>
            <a:r>
              <a:rPr sz="1200" spc="-10" dirty="0">
                <a:latin typeface="Times New Roman"/>
                <a:cs typeface="Times New Roman"/>
              </a:rPr>
              <a:t>initiative.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revolution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Unified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Interface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(UPI)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interoperable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launched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National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Corporation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(NPCI)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2016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instantly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accounts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mobile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codes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Times New Roman"/>
                <a:cs typeface="Times New Roman"/>
              </a:rPr>
              <a:t>virtual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addresses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eliminating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dependency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physical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debit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cards,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wallets.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25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Since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inception,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foundation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cashless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economy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over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12 </a:t>
            </a:r>
            <a:r>
              <a:rPr sz="1200" b="1" dirty="0">
                <a:latin typeface="Times New Roman"/>
                <a:cs typeface="Times New Roman"/>
              </a:rPr>
              <a:t>billion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transactions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month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2025,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RBI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Report)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reaching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corner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nation.</a:t>
            </a:r>
            <a:endParaRPr sz="1200">
              <a:latin typeface="Times New Roman"/>
              <a:cs typeface="Times New Roman"/>
            </a:endParaRPr>
          </a:p>
          <a:p>
            <a:pPr marL="12700" marR="34353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vendors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e-</a:t>
            </a:r>
            <a:r>
              <a:rPr sz="1200" dirty="0">
                <a:latin typeface="Times New Roman"/>
                <a:cs typeface="Times New Roman"/>
              </a:rPr>
              <a:t>commerce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democratized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digital </a:t>
            </a:r>
            <a:r>
              <a:rPr sz="1200" b="1" dirty="0">
                <a:latin typeface="Times New Roman"/>
                <a:cs typeface="Times New Roman"/>
              </a:rPr>
              <a:t>payments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bringing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financial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millions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transparency,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spc="-20" dirty="0">
                <a:latin typeface="Times New Roman"/>
                <a:cs typeface="Times New Roman"/>
              </a:rPr>
              <a:t>time </a:t>
            </a:r>
            <a:r>
              <a:rPr sz="1200" spc="-10" dirty="0">
                <a:latin typeface="Times New Roman"/>
                <a:cs typeface="Times New Roman"/>
              </a:rPr>
              <a:t>convenience.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91465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According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NPCI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(2025),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contributes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over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50%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global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real-</a:t>
            </a:r>
            <a:r>
              <a:rPr sz="1200" i="1" dirty="0">
                <a:latin typeface="Times New Roman"/>
                <a:cs typeface="Times New Roman"/>
              </a:rPr>
              <a:t>time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payment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transactions, </a:t>
            </a:r>
            <a:r>
              <a:rPr sz="1200" i="1" dirty="0">
                <a:latin typeface="Times New Roman"/>
                <a:cs typeface="Times New Roman"/>
              </a:rPr>
              <a:t>making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India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world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leader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payments.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the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Indian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Economy</a:t>
            </a:r>
            <a:endParaRPr sz="1200">
              <a:latin typeface="Calibri Light"/>
              <a:cs typeface="Calibri Light"/>
            </a:endParaRPr>
          </a:p>
          <a:p>
            <a:pPr marL="12700" marR="92075">
              <a:lnSpc>
                <a:spcPts val="1380"/>
              </a:lnSpc>
              <a:spcBef>
                <a:spcPts val="204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GDP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growth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formalization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economy</a:t>
            </a:r>
            <a:r>
              <a:rPr sz="1200" spc="-10" dirty="0">
                <a:latin typeface="Times New Roman"/>
                <a:cs typeface="Times New Roman"/>
              </a:rPr>
              <a:t>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reduction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cash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dependency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simplifying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promoting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accountability,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has: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Reduced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currency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printing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handling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costs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saving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billions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RBI.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Increased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transaction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transparency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curbing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tax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corruption.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Encouraged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literacy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owners.</a:t>
            </a:r>
            <a:endParaRPr sz="1200">
              <a:latin typeface="Times New Roman"/>
              <a:cs typeface="Times New Roman"/>
            </a:endParaRPr>
          </a:p>
          <a:p>
            <a:pPr marL="469900" marR="250190" indent="-229235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Boosted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fintech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innovation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startups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competing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feature-</a:t>
            </a:r>
            <a:r>
              <a:rPr sz="1200" dirty="0">
                <a:latin typeface="Times New Roman"/>
                <a:cs typeface="Times New Roman"/>
              </a:rPr>
              <a:t>rich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UPI </a:t>
            </a:r>
            <a:r>
              <a:rPr sz="1200" spc="-10" dirty="0">
                <a:latin typeface="Times New Roman"/>
                <a:cs typeface="Times New Roman"/>
              </a:rPr>
              <a:t>apps.</a:t>
            </a:r>
            <a:endParaRPr sz="1200">
              <a:latin typeface="Times New Roman"/>
              <a:cs typeface="Times New Roman"/>
            </a:endParaRPr>
          </a:p>
          <a:p>
            <a:pPr marL="12700" marR="774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UPI’s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aligns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perfectly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Government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“Cashless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Vision”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serve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pillar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inclusive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economic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development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224790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From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kirana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shops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global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e-</a:t>
            </a:r>
            <a:r>
              <a:rPr sz="1200" i="1" dirty="0">
                <a:latin typeface="Times New Roman"/>
                <a:cs typeface="Times New Roman"/>
              </a:rPr>
              <a:t>commerce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platforms,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UPI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has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redefined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financial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accessibility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—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proving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inclusion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can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both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scalable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sustainable.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864" y="819149"/>
            <a:ext cx="6069965" cy="3731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496314"/>
            <a:ext cx="6620509" cy="5179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Reason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for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Choosing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the</a:t>
            </a:r>
            <a:r>
              <a:rPr sz="12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Topic: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Calibri Light"/>
              <a:cs typeface="Calibri Light"/>
            </a:endParaRPr>
          </a:p>
          <a:p>
            <a:pPr marL="12700" marR="43942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topic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“UPI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Cashless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Economy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-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Data-</a:t>
            </a:r>
            <a:r>
              <a:rPr sz="1200" i="1" dirty="0">
                <a:latin typeface="Times New Roman"/>
                <a:cs typeface="Times New Roman"/>
              </a:rPr>
              <a:t>Driven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Study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on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Payment </a:t>
            </a:r>
            <a:r>
              <a:rPr sz="1200" i="1" dirty="0">
                <a:latin typeface="Times New Roman"/>
                <a:cs typeface="Times New Roman"/>
              </a:rPr>
              <a:t>Adoption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among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Youth”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just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technology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it’s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movement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reshaping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India’s economy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19685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Science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inspired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Indians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(ages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18–25)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transformation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behavioral,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technological,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trust-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adoption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UPI.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1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opportunity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technical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knowledge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scenario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by: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Collecting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primary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nationwide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survey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Query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Analyzing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PivotTables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Designing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professional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stakeholders.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2700" marR="45085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blend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finance,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technology,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 </a:t>
            </a:r>
            <a:r>
              <a:rPr sz="1200" b="1" dirty="0">
                <a:latin typeface="Times New Roman"/>
                <a:cs typeface="Times New Roman"/>
              </a:rPr>
              <a:t>why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</a:t>
            </a:r>
            <a:r>
              <a:rPr sz="1200" dirty="0">
                <a:latin typeface="Times New Roman"/>
                <a:cs typeface="Times New Roman"/>
              </a:rPr>
              <a:t>works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perceptions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next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financial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innovation.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3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Relevance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to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Data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Science: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12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exemplifies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economic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behavioral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research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8255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storytelling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reveal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digital </a:t>
            </a:r>
            <a:r>
              <a:rPr sz="1200" dirty="0">
                <a:latin typeface="Times New Roman"/>
                <a:cs typeface="Times New Roman"/>
              </a:rPr>
              <a:t>adoption.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1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Transformed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Query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Identified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PivotTables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interactive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slicers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Communicated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quantitative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bridges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academic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Science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can </a:t>
            </a:r>
            <a:r>
              <a:rPr sz="1200" b="1" dirty="0">
                <a:latin typeface="Times New Roman"/>
                <a:cs typeface="Times New Roman"/>
              </a:rPr>
              <a:t>interpret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social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economic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shifts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evolving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960" y="6676872"/>
            <a:ext cx="5636260" cy="32753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7104" y="245109"/>
            <a:ext cx="4444704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5376544"/>
            <a:ext cx="6647815" cy="20955"/>
            <a:chOff x="457200" y="5376544"/>
            <a:chExt cx="6647815" cy="20955"/>
          </a:xfrm>
        </p:grpSpPr>
        <p:sp>
          <p:nvSpPr>
            <p:cNvPr id="3" name="object 3"/>
            <p:cNvSpPr/>
            <p:nvPr/>
          </p:nvSpPr>
          <p:spPr>
            <a:xfrm>
              <a:off x="457200" y="537654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537730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5377306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538035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39407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5394070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1398777"/>
            <a:ext cx="6649084" cy="8660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Project</a:t>
            </a:r>
            <a:r>
              <a:rPr sz="1600" b="0" spc="-7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Objectives: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600">
              <a:latin typeface="Calibri Light"/>
              <a:cs typeface="Calibri Light"/>
            </a:endParaRPr>
          </a:p>
          <a:p>
            <a:pPr marL="12700" marR="34163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Unified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Interface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(UPI)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accelerated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transition </a:t>
            </a:r>
            <a:r>
              <a:rPr sz="1200" dirty="0">
                <a:latin typeface="Times New Roman"/>
                <a:cs typeface="Times New Roman"/>
              </a:rPr>
              <a:t>toward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cashless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empowered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economy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71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gathering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citizens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uncover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 </a:t>
            </a:r>
            <a:r>
              <a:rPr sz="1200" dirty="0">
                <a:latin typeface="Times New Roman"/>
                <a:cs typeface="Times New Roman"/>
              </a:rPr>
              <a:t>reflects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nation’s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progress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financial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transformation.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655"/>
              </a:lnSpc>
              <a:spcBef>
                <a:spcPts val="1290"/>
              </a:spcBef>
            </a:pPr>
            <a:r>
              <a:rPr sz="1400" b="1" dirty="0">
                <a:latin typeface="Times New Roman"/>
                <a:cs typeface="Times New Roman"/>
              </a:rPr>
              <a:t>Core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Objectives:</a:t>
            </a:r>
            <a:endParaRPr sz="1400">
              <a:latin typeface="Times New Roman"/>
              <a:cs typeface="Times New Roman"/>
            </a:endParaRPr>
          </a:p>
          <a:p>
            <a:pPr marL="469900" marR="5080" indent="-229235">
              <a:lnSpc>
                <a:spcPts val="1380"/>
              </a:lnSpc>
              <a:spcBef>
                <a:spcPts val="70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measure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adoption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rate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behavioral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trends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groups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India.</a:t>
            </a:r>
            <a:endParaRPr sz="1200">
              <a:latin typeface="Times New Roman"/>
              <a:cs typeface="Times New Roman"/>
            </a:endParaRPr>
          </a:p>
          <a:p>
            <a:pPr marL="469900" marR="67310" indent="-229235">
              <a:lnSpc>
                <a:spcPts val="138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identify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most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preferred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applications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PhonePe,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Paytm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examine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reasons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behind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preferences.</a:t>
            </a:r>
            <a:endParaRPr sz="1200">
              <a:latin typeface="Times New Roman"/>
              <a:cs typeface="Times New Roman"/>
            </a:endParaRPr>
          </a:p>
          <a:p>
            <a:pPr marL="469900" marR="549910" indent="-229235">
              <a:lnSpc>
                <a:spcPts val="138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study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transaction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frequency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usage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purposes,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peer-to-</a:t>
            </a:r>
            <a:r>
              <a:rPr sz="1200" dirty="0">
                <a:latin typeface="Times New Roman"/>
                <a:cs typeface="Times New Roman"/>
              </a:rPr>
              <a:t>peer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transfers,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bill </a:t>
            </a:r>
            <a:r>
              <a:rPr sz="1200" dirty="0">
                <a:latin typeface="Times New Roman"/>
                <a:cs typeface="Times New Roman"/>
              </a:rPr>
              <a:t>payments,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retail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shopping.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0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evaluate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perceptions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convenience,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reliability,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security,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challenges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failed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transfers,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fraud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concerns.</a:t>
            </a:r>
            <a:endParaRPr sz="1200">
              <a:latin typeface="Times New Roman"/>
              <a:cs typeface="Times New Roman"/>
            </a:endParaRPr>
          </a:p>
          <a:p>
            <a:pPr marL="469900" marR="174625" indent="-229235">
              <a:lnSpc>
                <a:spcPts val="1380"/>
              </a:lnSpc>
              <a:spcBef>
                <a:spcPts val="65"/>
              </a:spcBef>
              <a:buFont typeface="Times New Roman"/>
              <a:buAutoNum type="arabicPeriod" startAt="5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generate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actionable,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insights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policymakers,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fintech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organizations,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educators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advancing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inclusive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systems.</a:t>
            </a:r>
            <a:endParaRPr sz="1200">
              <a:latin typeface="Times New Roman"/>
              <a:cs typeface="Times New Roman"/>
            </a:endParaRPr>
          </a:p>
          <a:p>
            <a:pPr marL="12700" marR="19050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These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objectives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integrate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behavioral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analytical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insights,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transforming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raw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survey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meaningful </a:t>
            </a:r>
            <a:r>
              <a:rPr sz="1200" i="1" dirty="0">
                <a:latin typeface="Times New Roman"/>
                <a:cs typeface="Times New Roman"/>
              </a:rPr>
              <a:t>indicators</a:t>
            </a:r>
            <a:r>
              <a:rPr sz="1200" i="1" spc="-4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India’s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evolving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economy.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Scope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of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the</a:t>
            </a:r>
            <a:r>
              <a:rPr sz="1600" b="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Study: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425"/>
              </a:spcBef>
            </a:pPr>
            <a:r>
              <a:rPr sz="1200" b="1" dirty="0">
                <a:latin typeface="Times New Roman"/>
                <a:cs typeface="Times New Roman"/>
              </a:rPr>
              <a:t>Population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Sample:</a:t>
            </a:r>
            <a:endParaRPr sz="1200">
              <a:latin typeface="Times New Roman"/>
              <a:cs typeface="Times New Roman"/>
            </a:endParaRPr>
          </a:p>
          <a:p>
            <a:pPr marL="12700" marR="6096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primary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collected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60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respondents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diverse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-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homemakers,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entrepreneurs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realistic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the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population’s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usage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45"/>
              </a:spcBef>
            </a:pPr>
            <a:r>
              <a:rPr sz="1200" b="1" dirty="0">
                <a:latin typeface="Times New Roman"/>
                <a:cs typeface="Times New Roman"/>
              </a:rPr>
              <a:t>Geographical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Reach:</a:t>
            </a:r>
            <a:endParaRPr sz="1200">
              <a:latin typeface="Times New Roman"/>
              <a:cs typeface="Times New Roman"/>
            </a:endParaRPr>
          </a:p>
          <a:p>
            <a:pPr marL="12700" marR="50292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covering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urban,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semi-</a:t>
            </a:r>
            <a:r>
              <a:rPr sz="1200" b="1" dirty="0">
                <a:latin typeface="Times New Roman"/>
                <a:cs typeface="Times New Roman"/>
              </a:rPr>
              <a:t>urban,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rural </a:t>
            </a:r>
            <a:r>
              <a:rPr sz="1200" b="1" dirty="0">
                <a:latin typeface="Times New Roman"/>
                <a:cs typeface="Times New Roman"/>
              </a:rPr>
              <a:t>participants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nationwide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perspective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295"/>
              </a:spcBef>
            </a:pPr>
            <a:r>
              <a:rPr sz="1200" b="1" dirty="0">
                <a:latin typeface="Times New Roman"/>
                <a:cs typeface="Times New Roman"/>
              </a:rPr>
              <a:t>Tools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Techniques:</a:t>
            </a:r>
            <a:endParaRPr sz="1200">
              <a:latin typeface="Times New Roman"/>
              <a:cs typeface="Times New Roman"/>
            </a:endParaRPr>
          </a:p>
          <a:p>
            <a:pPr marL="12700" marR="7620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standardized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Microsoft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Microsoft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PivotTables,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slicers.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10"/>
              </a:spcBef>
            </a:pPr>
            <a:r>
              <a:rPr sz="1200" b="1" dirty="0">
                <a:latin typeface="Times New Roman"/>
                <a:cs typeface="Times New Roman"/>
              </a:rPr>
              <a:t>Study </a:t>
            </a:r>
            <a:r>
              <a:rPr sz="1200" b="1" spc="-10" dirty="0">
                <a:latin typeface="Times New Roman"/>
                <a:cs typeface="Times New Roman"/>
              </a:rPr>
              <a:t>Period:</a:t>
            </a:r>
            <a:endParaRPr sz="1200">
              <a:latin typeface="Times New Roman"/>
              <a:cs typeface="Times New Roman"/>
            </a:endParaRPr>
          </a:p>
          <a:p>
            <a:pPr marL="12700" marR="6985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conducted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October-</a:t>
            </a:r>
            <a:r>
              <a:rPr sz="1200" b="1" dirty="0">
                <a:latin typeface="Times New Roman"/>
                <a:cs typeface="Times New Roman"/>
              </a:rPr>
              <a:t>November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2025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period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expansion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fintech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revolution.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05"/>
              </a:spcBef>
            </a:pPr>
            <a:r>
              <a:rPr sz="1200" b="1" spc="-10" dirty="0">
                <a:latin typeface="Times New Roman"/>
                <a:cs typeface="Times New Roman"/>
              </a:rPr>
              <a:t>Limitations:</a:t>
            </a:r>
            <a:endParaRPr sz="1200">
              <a:latin typeface="Times New Roman"/>
              <a:cs typeface="Times New Roman"/>
            </a:endParaRPr>
          </a:p>
          <a:p>
            <a:pPr marL="12700" marR="227965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behavior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opinions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limited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sample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size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(60)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entire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demographic.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could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regional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segmentation,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occupation-</a:t>
            </a:r>
            <a:r>
              <a:rPr sz="1200" b="1" dirty="0">
                <a:latin typeface="Times New Roman"/>
                <a:cs typeface="Times New Roman"/>
              </a:rPr>
              <a:t>based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analysis,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cross-</a:t>
            </a:r>
            <a:r>
              <a:rPr sz="1200" b="1" dirty="0">
                <a:latin typeface="Times New Roman"/>
                <a:cs typeface="Times New Roman"/>
              </a:rPr>
              <a:t>year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comparisons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8275" algn="just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study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leverages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science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tools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real-</a:t>
            </a:r>
            <a:r>
              <a:rPr sz="1200" i="1" dirty="0">
                <a:latin typeface="Times New Roman"/>
                <a:cs typeface="Times New Roman"/>
              </a:rPr>
              <a:t>world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analytics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interpret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adoption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patterns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across </a:t>
            </a:r>
            <a:r>
              <a:rPr sz="1200" i="1" dirty="0">
                <a:latin typeface="Times New Roman"/>
                <a:cs typeface="Times New Roman"/>
              </a:rPr>
              <a:t>India’s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diverse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population.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375" y="221614"/>
            <a:ext cx="1916063" cy="17741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58661" y="353060"/>
            <a:ext cx="1431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385522"/>
                </a:solidFill>
                <a:latin typeface="Calibri"/>
                <a:cs typeface="Calibri"/>
              </a:rPr>
              <a:t>Survey</a:t>
            </a:r>
            <a:r>
              <a:rPr sz="1000" b="1" spc="-25" dirty="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385522"/>
                </a:solidFill>
                <a:latin typeface="Calibri"/>
                <a:cs typeface="Calibri"/>
              </a:rPr>
              <a:t>Reach</a:t>
            </a:r>
            <a:r>
              <a:rPr sz="1000" b="1" spc="-15" dirty="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385522"/>
                </a:solidFill>
                <a:latin typeface="Calibri"/>
                <a:cs typeface="Calibri"/>
              </a:rPr>
              <a:t>Across</a:t>
            </a:r>
            <a:r>
              <a:rPr sz="1000" b="1" spc="-25" dirty="0">
                <a:solidFill>
                  <a:srgbClr val="385522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385522"/>
                </a:solidFill>
                <a:latin typeface="Calibri"/>
                <a:cs typeface="Calibri"/>
              </a:rPr>
              <a:t>India.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850389"/>
            <a:ext cx="6647815" cy="20320"/>
            <a:chOff x="457200" y="1850389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185038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12"/>
                  </a:moveTo>
                  <a:lnTo>
                    <a:pt x="6644386" y="12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12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18503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85038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185343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86715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86715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3354069"/>
            <a:ext cx="6647815" cy="20955"/>
            <a:chOff x="457200" y="3354069"/>
            <a:chExt cx="6647815" cy="20955"/>
          </a:xfrm>
        </p:grpSpPr>
        <p:sp>
          <p:nvSpPr>
            <p:cNvPr id="10" name="object 10"/>
            <p:cNvSpPr/>
            <p:nvPr/>
          </p:nvSpPr>
          <p:spPr>
            <a:xfrm>
              <a:off x="457200" y="3354069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901"/>
                  </a:lnTo>
                  <a:lnTo>
                    <a:pt x="0" y="3937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1585" y="335495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335497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335800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33717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337173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4500" y="435355"/>
            <a:ext cx="6609080" cy="4740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Methodology: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600">
              <a:latin typeface="Calibri Light"/>
              <a:cs typeface="Calibri Light"/>
            </a:endParaRPr>
          </a:p>
          <a:p>
            <a:pPr marL="12700" marR="612775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structured,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methodology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inspired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 </a:t>
            </a:r>
            <a:r>
              <a:rPr sz="1200" dirty="0">
                <a:latin typeface="Times New Roman"/>
                <a:cs typeface="Times New Roman"/>
              </a:rPr>
              <a:t>workflows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aligned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academic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clarity.</a:t>
            </a:r>
            <a:endParaRPr sz="1200">
              <a:latin typeface="Times New Roman"/>
              <a:cs typeface="Times New Roman"/>
            </a:endParaRPr>
          </a:p>
          <a:p>
            <a:pPr marL="12700" marR="5651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precision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the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respondents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reliable,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insight-</a:t>
            </a:r>
            <a:r>
              <a:rPr sz="1200" b="1" dirty="0">
                <a:latin typeface="Times New Roman"/>
                <a:cs typeface="Times New Roman"/>
              </a:rPr>
              <a:t>rich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conclusions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1️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Topic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Selection:</a:t>
            </a: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14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“UPI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Cashless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Economy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-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Data-</a:t>
            </a:r>
            <a:r>
              <a:rPr sz="1200" i="1" dirty="0">
                <a:latin typeface="Times New Roman"/>
                <a:cs typeface="Times New Roman"/>
              </a:rPr>
              <a:t>Driven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Study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Payment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Adoption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among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Youth”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national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importance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technological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relevance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27749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bridges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crucial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dimensions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technology,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finance,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behavior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perfect </a:t>
            </a:r>
            <a:r>
              <a:rPr sz="1200" dirty="0">
                <a:latin typeface="Times New Roman"/>
                <a:cs typeface="Times New Roman"/>
              </a:rPr>
              <a:t>opportunity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economic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phenomenon.</a:t>
            </a:r>
            <a:endParaRPr sz="1200">
              <a:latin typeface="Times New Roman"/>
              <a:cs typeface="Times New Roman"/>
            </a:endParaRPr>
          </a:p>
          <a:p>
            <a:pPr marL="12700" marR="10604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massive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shift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toward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social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financial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change.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2️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Data</a:t>
            </a:r>
            <a:r>
              <a:rPr sz="1400" b="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Collection:</a:t>
            </a:r>
            <a:endParaRPr sz="1400">
              <a:latin typeface="Calibri Light"/>
              <a:cs typeface="Calibri Light"/>
            </a:endParaRPr>
          </a:p>
          <a:p>
            <a:pPr marL="12700" marR="271145">
              <a:lnSpc>
                <a:spcPts val="1380"/>
              </a:lnSpc>
              <a:spcBef>
                <a:spcPts val="240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structured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survey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carefully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demographic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behavioral data.</a:t>
            </a:r>
            <a:endParaRPr sz="1200">
              <a:latin typeface="Times New Roman"/>
              <a:cs typeface="Times New Roman"/>
            </a:endParaRPr>
          </a:p>
          <a:p>
            <a:pPr marL="12700" marR="36703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questions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perceived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challenges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concerns.</a:t>
            </a:r>
            <a:endParaRPr sz="1200">
              <a:latin typeface="Times New Roman"/>
              <a:cs typeface="Times New Roman"/>
            </a:endParaRPr>
          </a:p>
          <a:p>
            <a:pPr marL="12700" marR="774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nationwide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60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valid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responses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diverse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audience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students, </a:t>
            </a:r>
            <a:r>
              <a:rPr sz="1200" dirty="0">
                <a:latin typeface="Times New Roman"/>
                <a:cs typeface="Times New Roman"/>
              </a:rPr>
              <a:t>professionals,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12700" marR="464184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balanced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representative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dataset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genuine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digital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ecosystem.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" y="7242175"/>
            <a:ext cx="6647815" cy="20955"/>
            <a:chOff x="457200" y="7242175"/>
            <a:chExt cx="6647815" cy="20955"/>
          </a:xfrm>
        </p:grpSpPr>
        <p:sp>
          <p:nvSpPr>
            <p:cNvPr id="18" name="object 18"/>
            <p:cNvSpPr/>
            <p:nvPr/>
          </p:nvSpPr>
          <p:spPr>
            <a:xfrm>
              <a:off x="457200" y="724217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774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1585" y="724293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200" y="724294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01585" y="7245985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725970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725971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44500" y="7276609"/>
            <a:ext cx="6442710" cy="23952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3️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Data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Cleaning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Preparation:</a:t>
            </a: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14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Microsoft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</a:t>
            </a:r>
            <a:endParaRPr sz="1200">
              <a:latin typeface="Times New Roman"/>
              <a:cs typeface="Times New Roman"/>
            </a:endParaRPr>
          </a:p>
          <a:p>
            <a:pPr marL="12700" marR="2416810">
              <a:lnSpc>
                <a:spcPts val="1380"/>
              </a:lnSpc>
              <a:spcBef>
                <a:spcPts val="70"/>
              </a:spcBef>
            </a:pP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consistency.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included: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0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Removing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blank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duplicate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responses.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Standardizing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types).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Correcting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capitalization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inconsistencies.</a:t>
            </a:r>
            <a:endParaRPr sz="1200">
              <a:latin typeface="Times New Roman"/>
              <a:cs typeface="Times New Roman"/>
            </a:endParaRPr>
          </a:p>
          <a:p>
            <a:pPr marL="469900" marR="5080" indent="-229235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Creating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“UPI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(Yes/No)”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“Usage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Frequency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Score”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“App </a:t>
            </a:r>
            <a:r>
              <a:rPr sz="1200" i="1" dirty="0">
                <a:latin typeface="Times New Roman"/>
                <a:cs typeface="Times New Roman"/>
              </a:rPr>
              <a:t>Preference</a:t>
            </a:r>
            <a:r>
              <a:rPr sz="1200" i="1" spc="-7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Rank”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479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 </a:t>
            </a:r>
            <a:r>
              <a:rPr sz="1200" b="1" spc="-10" dirty="0">
                <a:latin typeface="Times New Roman"/>
                <a:cs typeface="Times New Roman"/>
              </a:rPr>
              <a:t>error-</a:t>
            </a:r>
            <a:r>
              <a:rPr sz="1200" b="1" dirty="0">
                <a:latin typeface="Times New Roman"/>
                <a:cs typeface="Times New Roman"/>
              </a:rPr>
              <a:t>free,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uniform,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analysis-</a:t>
            </a:r>
            <a:r>
              <a:rPr sz="1200" b="1" dirty="0">
                <a:latin typeface="Times New Roman"/>
                <a:cs typeface="Times New Roman"/>
              </a:rPr>
              <a:t>ready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credibility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later.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150" y="5241543"/>
            <a:ext cx="5537200" cy="195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5173979"/>
            <a:ext cx="6647815" cy="20955"/>
            <a:chOff x="457200" y="5173979"/>
            <a:chExt cx="6647815" cy="20955"/>
          </a:xfrm>
        </p:grpSpPr>
        <p:sp>
          <p:nvSpPr>
            <p:cNvPr id="3" name="object 3"/>
            <p:cNvSpPr/>
            <p:nvPr/>
          </p:nvSpPr>
          <p:spPr>
            <a:xfrm>
              <a:off x="457200" y="517397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635"/>
                  </a:lnTo>
                  <a:lnTo>
                    <a:pt x="0" y="3683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517461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517461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517766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19137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519139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7710169"/>
            <a:ext cx="6647815" cy="20955"/>
            <a:chOff x="457200" y="7710169"/>
            <a:chExt cx="6647815" cy="20955"/>
          </a:xfrm>
        </p:grpSpPr>
        <p:sp>
          <p:nvSpPr>
            <p:cNvPr id="10" name="object 10"/>
            <p:cNvSpPr/>
            <p:nvPr/>
          </p:nvSpPr>
          <p:spPr>
            <a:xfrm>
              <a:off x="457200" y="771016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635"/>
                  </a:lnTo>
                  <a:lnTo>
                    <a:pt x="0" y="3683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1585" y="77108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771080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771385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772756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772758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4500" y="5207989"/>
            <a:ext cx="6671309" cy="485521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4️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Data</a:t>
            </a:r>
            <a:r>
              <a:rPr sz="1400" b="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Analysis:</a:t>
            </a:r>
            <a:endParaRPr sz="1400">
              <a:latin typeface="Calibri Light"/>
              <a:cs typeface="Calibri Light"/>
            </a:endParaRPr>
          </a:p>
          <a:p>
            <a:pPr marL="12700" marR="239395">
              <a:lnSpc>
                <a:spcPts val="1380"/>
              </a:lnSpc>
              <a:spcBef>
                <a:spcPts val="235"/>
              </a:spcBef>
            </a:pPr>
            <a:r>
              <a:rPr sz="1200" dirty="0">
                <a:latin typeface="Times New Roman"/>
                <a:cs typeface="Times New Roman"/>
              </a:rPr>
              <a:t>Once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PivotTables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advanced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functions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enabling </a:t>
            </a:r>
            <a:r>
              <a:rPr sz="1200" dirty="0">
                <a:latin typeface="Times New Roman"/>
                <a:cs typeface="Times New Roman"/>
              </a:rPr>
              <a:t>quick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aggregation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comparison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variables.</a:t>
            </a:r>
            <a:endParaRPr sz="1200">
              <a:latin typeface="Times New Roman"/>
              <a:cs typeface="Times New Roman"/>
            </a:endParaRPr>
          </a:p>
          <a:p>
            <a:pPr marL="12700" marR="31051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indicators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(KPIs)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preferences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were </a:t>
            </a:r>
            <a:r>
              <a:rPr sz="1200" spc="-10" dirty="0">
                <a:latin typeface="Times New Roman"/>
                <a:cs typeface="Times New Roman"/>
              </a:rPr>
              <a:t>calculated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patterns.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93%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respondents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actively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UPI.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(46%)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PhonePe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(32%)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dominate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Security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issues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transaction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delays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emerged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concerns.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30"/>
              </a:spcBef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descriptive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into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Times New Roman"/>
                <a:cs typeface="Times New Roman"/>
              </a:rPr>
              <a:t>clear,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quantifiable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insights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5️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Dashboard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Development:</a:t>
            </a:r>
            <a:endParaRPr sz="1400">
              <a:latin typeface="Calibri Light"/>
              <a:cs typeface="Calibri Light"/>
            </a:endParaRPr>
          </a:p>
          <a:p>
            <a:pPr marL="12700" marR="135890">
              <a:lnSpc>
                <a:spcPts val="1380"/>
              </a:lnSpc>
              <a:spcBef>
                <a:spcPts val="235"/>
              </a:spcBef>
            </a:pP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interactive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concise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engaging manner.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included: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KPI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Cards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Respondents,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%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Apps.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Slicers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Visuals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 </a:t>
            </a:r>
            <a:r>
              <a:rPr sz="1200" spc="-10" dirty="0">
                <a:latin typeface="Times New Roman"/>
                <a:cs typeface="Times New Roman"/>
              </a:rPr>
              <a:t>preferences.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413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layout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corporate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principles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simplicity,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readability,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storytelling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similar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 </a:t>
            </a:r>
            <a:r>
              <a:rPr sz="1200" dirty="0">
                <a:latin typeface="Times New Roman"/>
                <a:cs typeface="Times New Roman"/>
              </a:rPr>
              <a:t>teams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fintech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sector.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200" y="191769"/>
            <a:ext cx="6049645" cy="48159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44499"/>
            <a:ext cx="6637655" cy="3542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6️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Documentation</a:t>
            </a:r>
            <a:r>
              <a:rPr sz="1400" b="0" spc="-3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Reporting: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consolidated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structured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field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report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aligned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submission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guidelines.</a:t>
            </a:r>
            <a:endParaRPr sz="1200">
              <a:latin typeface="Times New Roman"/>
              <a:cs typeface="Times New Roman"/>
            </a:endParaRPr>
          </a:p>
          <a:p>
            <a:pPr marL="12700" marR="38925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formatting,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grammatical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review, 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styling.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screenshots,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strategically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enhance </a:t>
            </a:r>
            <a:r>
              <a:rPr sz="1200" dirty="0">
                <a:latin typeface="Times New Roman"/>
                <a:cs typeface="Times New Roman"/>
              </a:rPr>
              <a:t>readability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flow.</a:t>
            </a:r>
            <a:endParaRPr sz="1200">
              <a:latin typeface="Times New Roman"/>
              <a:cs typeface="Times New Roman"/>
            </a:endParaRPr>
          </a:p>
          <a:p>
            <a:pPr marL="12700" marR="1955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academically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credible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yet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visually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appealing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internal </a:t>
            </a:r>
            <a:r>
              <a:rPr sz="1200" dirty="0">
                <a:latin typeface="Times New Roman"/>
                <a:cs typeface="Times New Roman"/>
              </a:rPr>
              <a:t>evaluation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external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presentation.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0" spc="-360" dirty="0">
                <a:solidFill>
                  <a:srgbClr val="1F3762"/>
                </a:solidFill>
                <a:latin typeface="Calibri Light"/>
                <a:cs typeface="Calibri Light"/>
              </a:rPr>
              <a:t>7️</a:t>
            </a:r>
            <a:r>
              <a:rPr sz="1400" b="1" spc="-360" dirty="0">
                <a:solidFill>
                  <a:srgbClr val="1F3762"/>
                </a:solidFill>
                <a:latin typeface="Tahoma"/>
                <a:cs typeface="Tahoma"/>
              </a:rPr>
              <a:t>.</a:t>
            </a:r>
            <a:r>
              <a:rPr sz="1400" b="1" spc="-105" dirty="0">
                <a:solidFill>
                  <a:srgbClr val="1F3762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Team</a:t>
            </a:r>
            <a:r>
              <a:rPr sz="1400" b="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Collaboration: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400">
              <a:latin typeface="Calibri Light"/>
              <a:cs typeface="Calibri Light"/>
            </a:endParaRPr>
          </a:p>
          <a:p>
            <a:pPr marL="12700" marR="189865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drafts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were </a:t>
            </a:r>
            <a:r>
              <a:rPr sz="1200" spc="-10" dirty="0">
                <a:latin typeface="Times New Roman"/>
                <a:cs typeface="Times New Roman"/>
              </a:rPr>
              <a:t>collaboratively </a:t>
            </a:r>
            <a:r>
              <a:rPr sz="1200" dirty="0">
                <a:latin typeface="Times New Roman"/>
                <a:cs typeface="Times New Roman"/>
              </a:rPr>
              <a:t>managed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10" dirty="0">
                <a:latin typeface="Times New Roman"/>
                <a:cs typeface="Times New Roman"/>
              </a:rPr>
              <a:t> Drive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version-</a:t>
            </a:r>
            <a:r>
              <a:rPr sz="1200" dirty="0">
                <a:latin typeface="Times New Roman"/>
                <a:cs typeface="Times New Roman"/>
              </a:rPr>
              <a:t>controlled,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feedback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smooth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coordination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members.</a:t>
            </a:r>
            <a:endParaRPr sz="1200">
              <a:latin typeface="Times New Roman"/>
              <a:cs typeface="Times New Roman"/>
            </a:endParaRPr>
          </a:p>
          <a:p>
            <a:pPr marL="12700" marR="15303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transparency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mirrored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industry-</a:t>
            </a:r>
            <a:r>
              <a:rPr sz="1200" b="1" dirty="0">
                <a:latin typeface="Times New Roman"/>
                <a:cs typeface="Times New Roman"/>
              </a:rPr>
              <a:t>standard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management </a:t>
            </a:r>
            <a:r>
              <a:rPr sz="1200" b="1" dirty="0">
                <a:latin typeface="Times New Roman"/>
                <a:cs typeface="Times New Roman"/>
              </a:rPr>
              <a:t>practices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organizations.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9097011"/>
            <a:ext cx="6647815" cy="20955"/>
            <a:chOff x="457200" y="9097011"/>
            <a:chExt cx="6647815" cy="20955"/>
          </a:xfrm>
        </p:grpSpPr>
        <p:sp>
          <p:nvSpPr>
            <p:cNvPr id="4" name="object 4"/>
            <p:cNvSpPr/>
            <p:nvPr/>
          </p:nvSpPr>
          <p:spPr>
            <a:xfrm>
              <a:off x="457200" y="9097022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003"/>
                  </a:lnTo>
                  <a:lnTo>
                    <a:pt x="0" y="4051"/>
                  </a:lnTo>
                  <a:lnTo>
                    <a:pt x="0" y="19672"/>
                  </a:lnTo>
                  <a:lnTo>
                    <a:pt x="6645910" y="19672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90980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9098026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910107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91147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9114790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00" y="4825872"/>
            <a:ext cx="6082030" cy="353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202179"/>
            <a:ext cx="6647815" cy="20320"/>
            <a:chOff x="457200" y="2202179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220217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254"/>
                  </a:lnTo>
                  <a:lnTo>
                    <a:pt x="0" y="3302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220243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2202433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220548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221919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221919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3782694"/>
            <a:ext cx="6647815" cy="20320"/>
            <a:chOff x="457200" y="3782694"/>
            <a:chExt cx="6647815" cy="20320"/>
          </a:xfrm>
        </p:grpSpPr>
        <p:sp>
          <p:nvSpPr>
            <p:cNvPr id="10" name="object 10"/>
            <p:cNvSpPr/>
            <p:nvPr/>
          </p:nvSpPr>
          <p:spPr>
            <a:xfrm>
              <a:off x="457200" y="3782707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508"/>
                  </a:lnTo>
                  <a:lnTo>
                    <a:pt x="0" y="3543"/>
                  </a:lnTo>
                  <a:lnTo>
                    <a:pt x="0" y="19672"/>
                  </a:lnTo>
                  <a:lnTo>
                    <a:pt x="6645910" y="19672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1585" y="378320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378321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378625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379996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379997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57200" y="7490459"/>
            <a:ext cx="6647815" cy="20955"/>
            <a:chOff x="457200" y="7490459"/>
            <a:chExt cx="6647815" cy="20955"/>
          </a:xfrm>
        </p:grpSpPr>
        <p:sp>
          <p:nvSpPr>
            <p:cNvPr id="17" name="object 17"/>
            <p:cNvSpPr/>
            <p:nvPr/>
          </p:nvSpPr>
          <p:spPr>
            <a:xfrm>
              <a:off x="457200" y="749045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901"/>
                  </a:lnTo>
                  <a:lnTo>
                    <a:pt x="0" y="3937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01585" y="749134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749136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01585" y="749439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750811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750812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4500" y="723391"/>
            <a:ext cx="6669405" cy="8870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Data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Cleaning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Preparation: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ts val="1380"/>
              </a:lnSpc>
              <a:spcBef>
                <a:spcPts val="1805"/>
              </a:spcBef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phases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collected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 marL="12700" marR="63881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Since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often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blank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duplicates,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inconsistent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spellings,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stage </a:t>
            </a:r>
            <a:r>
              <a:rPr sz="1200" dirty="0">
                <a:latin typeface="Times New Roman"/>
                <a:cs typeface="Times New Roman"/>
              </a:rPr>
              <a:t>transformed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meets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 standards.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buAutoNum type="arabicPeriod"/>
              <a:tabLst>
                <a:tab pos="185420" algn="l"/>
              </a:tabLst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Importing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Connection: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Clr>
                <a:srgbClr val="1F3762"/>
              </a:buClr>
              <a:buFont typeface="Calibri Light"/>
              <a:buAutoNum type="arabicPeriod"/>
            </a:pP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file.</a:t>
            </a:r>
            <a:endParaRPr sz="1200">
              <a:latin typeface="Times New Roman"/>
              <a:cs typeface="Times New Roman"/>
            </a:endParaRPr>
          </a:p>
          <a:p>
            <a:pPr marL="12700" marR="6794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Microsoft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 </a:t>
            </a:r>
            <a:r>
              <a:rPr sz="1200" spc="-10" dirty="0">
                <a:latin typeface="Times New Roman"/>
                <a:cs typeface="Times New Roman"/>
              </a:rPr>
              <a:t>automatically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refreshes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whenever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added.</a:t>
            </a:r>
            <a:endParaRPr sz="1200">
              <a:latin typeface="Times New Roman"/>
              <a:cs typeface="Times New Roman"/>
            </a:endParaRPr>
          </a:p>
          <a:p>
            <a:pPr marL="12700" marR="144145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mirrors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ETL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(Extract,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Transform,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Load)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companies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Deloitte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Google.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85420" algn="l"/>
              </a:tabLst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Data</a:t>
            </a:r>
            <a:r>
              <a:rPr sz="1400" b="0" spc="-5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Transformation</a:t>
            </a:r>
            <a:r>
              <a:rPr sz="1400" b="0" spc="-5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Steps: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70"/>
              </a:spcBef>
              <a:buClr>
                <a:srgbClr val="1F3762"/>
              </a:buClr>
              <a:buFont typeface="Calibri Light"/>
              <a:buAutoNum type="arabicPeriod" startAt="2"/>
            </a:pPr>
            <a:endParaRPr sz="1400">
              <a:latin typeface="Calibri Light"/>
              <a:cs typeface="Calibri Light"/>
            </a:endParaRPr>
          </a:p>
          <a:p>
            <a:pPr marL="12700" marR="19367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quality: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spcBef>
                <a:spcPts val="129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Removed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Duplicates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Blanks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unique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response.</a:t>
            </a:r>
            <a:endParaRPr sz="1200">
              <a:latin typeface="Times New Roman"/>
              <a:cs typeface="Times New Roman"/>
            </a:endParaRPr>
          </a:p>
          <a:p>
            <a:pPr marL="469900" marR="83820" lvl="1" indent="-229235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Standardized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Columns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Renamed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simplified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headers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“Which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use?”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→ </a:t>
            </a:r>
            <a:r>
              <a:rPr sz="1200" dirty="0">
                <a:latin typeface="Times New Roman"/>
                <a:cs typeface="Times New Roman"/>
              </a:rPr>
              <a:t>“UPI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App”).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1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Fixed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Category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Spelling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Unified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inconsistent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Phone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phonepe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PhonePay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PhonePe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Changed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Types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appropriate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seamless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Created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Derived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Columns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fields:</a:t>
            </a:r>
            <a:endParaRPr sz="1200">
              <a:latin typeface="Times New Roman"/>
              <a:cs typeface="Times New Roman"/>
            </a:endParaRPr>
          </a:p>
          <a:p>
            <a:pPr marL="927100" lvl="2" indent="-228600">
              <a:lnSpc>
                <a:spcPts val="1405"/>
              </a:lnSpc>
              <a:buChar char="o"/>
              <a:tabLst>
                <a:tab pos="927100" algn="l"/>
              </a:tabLst>
            </a:pPr>
            <a:r>
              <a:rPr sz="1000" spc="-10" dirty="0">
                <a:latin typeface="Courier New"/>
                <a:cs typeface="Courier New"/>
              </a:rPr>
              <a:t>Is_UPI_User</a:t>
            </a:r>
            <a:r>
              <a:rPr sz="1000" spc="-31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respondent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(Yes/No)</a:t>
            </a:r>
            <a:endParaRPr sz="1200">
              <a:latin typeface="Times New Roman"/>
              <a:cs typeface="Times New Roman"/>
            </a:endParaRPr>
          </a:p>
          <a:p>
            <a:pPr marL="927100" lvl="2" indent="-228600">
              <a:lnSpc>
                <a:spcPts val="1420"/>
              </a:lnSpc>
              <a:buChar char="o"/>
              <a:tabLst>
                <a:tab pos="927100" algn="l"/>
              </a:tabLst>
            </a:pPr>
            <a:r>
              <a:rPr sz="1000" spc="-10" dirty="0">
                <a:latin typeface="Courier New"/>
                <a:cs typeface="Courier New"/>
              </a:rPr>
              <a:t>Usage_Score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(Daily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Weekly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Monthly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1)</a:t>
            </a:r>
            <a:endParaRPr sz="1200">
              <a:latin typeface="Times New Roman"/>
              <a:cs typeface="Times New Roman"/>
            </a:endParaRPr>
          </a:p>
          <a:p>
            <a:pPr marL="927100" lvl="2" indent="-228600">
              <a:lnSpc>
                <a:spcPts val="1415"/>
              </a:lnSpc>
              <a:buChar char="o"/>
              <a:tabLst>
                <a:tab pos="927100" algn="l"/>
              </a:tabLst>
            </a:pPr>
            <a:r>
              <a:rPr sz="1000" spc="-10" dirty="0">
                <a:latin typeface="Courier New"/>
                <a:cs typeface="Courier New"/>
              </a:rPr>
              <a:t>App_Rank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popularity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index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3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Error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Handling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IFERROR()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TRIM()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inconsistencies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spaces.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2700" marR="252095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Each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transformation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was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automatically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recorded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Power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Query’s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“Applied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Steps”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panel,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ensuring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full </a:t>
            </a:r>
            <a:r>
              <a:rPr sz="1200" i="1" spc="-10" dirty="0">
                <a:latin typeface="Times New Roman"/>
                <a:cs typeface="Times New Roman"/>
              </a:rPr>
              <a:t>traceability </a:t>
            </a:r>
            <a:r>
              <a:rPr sz="1200" i="1" dirty="0">
                <a:latin typeface="Times New Roman"/>
                <a:cs typeface="Times New Roman"/>
              </a:rPr>
              <a:t>and easy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refresh of</a:t>
            </a:r>
            <a:r>
              <a:rPr sz="1200" i="1" spc="1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2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buAutoNum type="arabicPeriod" startAt="3"/>
              <a:tabLst>
                <a:tab pos="185420" algn="l"/>
              </a:tabLst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Validation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400" b="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Quality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Check: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Clr>
                <a:srgbClr val="1F3762"/>
              </a:buClr>
              <a:buFont typeface="Calibri Light"/>
              <a:buAutoNum type="arabicPeriod" startAt="3"/>
            </a:pP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reloaded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table.</a:t>
            </a:r>
            <a:endParaRPr sz="1200">
              <a:latin typeface="Times New Roman"/>
              <a:cs typeface="Times New Roman"/>
            </a:endParaRPr>
          </a:p>
          <a:p>
            <a:pPr marL="12700" marR="480059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audit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conducted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summary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checks confirmed: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spcBef>
                <a:spcPts val="130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Total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valid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responses: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60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No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missing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duplicate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entries</a:t>
            </a:r>
            <a:endParaRPr sz="1200">
              <a:latin typeface="Times New Roman"/>
              <a:cs typeface="Times New Roman"/>
            </a:endParaRPr>
          </a:p>
          <a:p>
            <a:pPr marL="469900" marR="199390" lvl="1" indent="-229235">
              <a:lnSpc>
                <a:spcPts val="1380"/>
              </a:lnSpc>
              <a:spcBef>
                <a:spcPts val="7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8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structured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variables: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Gender,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Purpose,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Concern,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User </a:t>
            </a:r>
            <a:r>
              <a:rPr sz="1200" dirty="0">
                <a:latin typeface="Times New Roman"/>
                <a:cs typeface="Times New Roman"/>
              </a:rPr>
              <a:t>Flag,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Score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7200" y="9883140"/>
            <a:ext cx="6647815" cy="21590"/>
            <a:chOff x="457200" y="9883140"/>
            <a:chExt cx="6647815" cy="21590"/>
          </a:xfrm>
        </p:grpSpPr>
        <p:sp>
          <p:nvSpPr>
            <p:cNvPr id="25" name="object 25"/>
            <p:cNvSpPr/>
            <p:nvPr/>
          </p:nvSpPr>
          <p:spPr>
            <a:xfrm>
              <a:off x="457200" y="9883152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219"/>
                  </a:lnTo>
                  <a:lnTo>
                    <a:pt x="0" y="4254"/>
                  </a:lnTo>
                  <a:lnTo>
                    <a:pt x="0" y="19672"/>
                  </a:lnTo>
                  <a:lnTo>
                    <a:pt x="6645910" y="19672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01585" y="988435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200" y="988437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01585" y="988740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00" y="99011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7200" y="990113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052954"/>
            <a:ext cx="6647815" cy="20320"/>
            <a:chOff x="457200" y="2052954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205295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127"/>
                  </a:lnTo>
                  <a:lnTo>
                    <a:pt x="0" y="3175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205308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205308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205612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206984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2069858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691387"/>
            <a:ext cx="6172200" cy="1669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185420" algn="l"/>
              </a:tabLst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Why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Power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Query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Was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Used:</a:t>
            </a:r>
            <a:endParaRPr sz="1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1F3762"/>
              </a:buClr>
              <a:buFont typeface="Calibri Light"/>
              <a:buAutoNum type="arabicPeriod" startAt="4"/>
            </a:pPr>
            <a:endParaRPr sz="14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automation,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scalability,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transparency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Unlike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reproducibility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-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qualities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workflows.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replicates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principles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corporate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engineering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environments.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185420" algn="l"/>
              </a:tabLst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Outcome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Summary:</a:t>
            </a:r>
            <a:endParaRPr sz="1400">
              <a:latin typeface="Calibri Light"/>
              <a:cs typeface="Calibri Ligh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28141" y="2719069"/>
          <a:ext cx="3632835" cy="361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R="146685" algn="ctr">
                        <a:lnSpc>
                          <a:spcPts val="105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Metric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4945" algn="ctr">
                        <a:lnSpc>
                          <a:spcPts val="105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Value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3695" algn="ctr">
                        <a:lnSpc>
                          <a:spcPts val="105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R="145415" algn="ctr">
                        <a:lnSpc>
                          <a:spcPts val="127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Responses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194945" algn="ctr">
                        <a:lnSpc>
                          <a:spcPts val="1275"/>
                        </a:lnSpc>
                        <a:spcBef>
                          <a:spcPts val="50"/>
                        </a:spcBef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355600" algn="ctr">
                        <a:lnSpc>
                          <a:spcPts val="127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Verified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valid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entries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00531" y="3208146"/>
            <a:ext cx="8388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Total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Columns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6289" y="3208146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5272" y="3467837"/>
            <a:ext cx="1188720" cy="470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 marR="5080" indent="-161925">
              <a:lnSpc>
                <a:spcPct val="1327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Duplicates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Removed </a:t>
            </a:r>
            <a:r>
              <a:rPr sz="1100" dirty="0">
                <a:latin typeface="Calibri"/>
                <a:cs typeface="Calibri"/>
              </a:rPr>
              <a:t>Missing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6289" y="3467837"/>
            <a:ext cx="96520" cy="47053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b="1" spc="-50" dirty="0"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100" b="1" spc="-50" dirty="0"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7859" y="4058538"/>
            <a:ext cx="9226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Added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Columns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66289" y="4058538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90342" y="3098266"/>
            <a:ext cx="230251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02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Key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demographic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&amp;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behavioral analysis</a:t>
            </a:r>
            <a:endParaRPr sz="1100">
              <a:latin typeface="Calibri"/>
              <a:cs typeface="Calibri"/>
            </a:endParaRPr>
          </a:p>
          <a:p>
            <a:pPr marL="245745" marR="238125" indent="-635" algn="ctr">
              <a:lnSpc>
                <a:spcPct val="132700"/>
              </a:lnSpc>
            </a:pPr>
            <a:r>
              <a:rPr sz="1100" dirty="0">
                <a:latin typeface="Calibri"/>
                <a:cs typeface="Calibri"/>
              </a:rPr>
              <a:t>Ensured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dataset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uniqueness </a:t>
            </a:r>
            <a:r>
              <a:rPr sz="1100" dirty="0">
                <a:latin typeface="Calibri"/>
                <a:cs typeface="Calibri"/>
              </a:rPr>
              <a:t>Blanks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replaced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standardized</a:t>
            </a:r>
            <a:endParaRPr sz="1100">
              <a:latin typeface="Calibri"/>
              <a:cs typeface="Calibri"/>
            </a:endParaRPr>
          </a:p>
          <a:p>
            <a:pPr marL="99060" marR="90805" algn="ctr">
              <a:lnSpc>
                <a:spcPct val="110000"/>
              </a:lnSpc>
              <a:spcBef>
                <a:spcPts val="285"/>
              </a:spcBef>
            </a:pPr>
            <a:r>
              <a:rPr sz="1100" dirty="0">
                <a:latin typeface="Calibri"/>
                <a:cs typeface="Calibri"/>
              </a:rPr>
              <a:t>Derived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analytical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(User,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Score, </a:t>
            </a:r>
            <a:r>
              <a:rPr sz="1100" spc="-20" dirty="0">
                <a:latin typeface="Calibri"/>
                <a:cs typeface="Calibri"/>
              </a:rPr>
              <a:t>Rank)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7200" y="9457690"/>
            <a:ext cx="6647815" cy="21590"/>
            <a:chOff x="457200" y="9457690"/>
            <a:chExt cx="6647815" cy="21590"/>
          </a:xfrm>
        </p:grpSpPr>
        <p:sp>
          <p:nvSpPr>
            <p:cNvPr id="19" name="object 19"/>
            <p:cNvSpPr/>
            <p:nvPr/>
          </p:nvSpPr>
          <p:spPr>
            <a:xfrm>
              <a:off x="457200" y="9457690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1473"/>
                  </a:lnTo>
                  <a:lnTo>
                    <a:pt x="0" y="4521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01585" y="94591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9459163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01585" y="946221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947592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200" y="947593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454" y="4001261"/>
            <a:ext cx="6687820" cy="49862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5355"/>
            <a:ext cx="6548120" cy="167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Data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Analysis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Dashboard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Insights: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ct val="117600"/>
              </a:lnSpc>
              <a:spcBef>
                <a:spcPts val="915"/>
              </a:spcBef>
            </a:pPr>
            <a:r>
              <a:rPr sz="1200" b="0" dirty="0">
                <a:latin typeface="Calibri Light"/>
                <a:cs typeface="Calibri Light"/>
              </a:rPr>
              <a:t>This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section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presents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the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analytical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core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of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the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project-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where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raw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responses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from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nationwide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UPI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survey </a:t>
            </a:r>
            <a:r>
              <a:rPr sz="1200" b="0" dirty="0">
                <a:latin typeface="Calibri Light"/>
                <a:cs typeface="Calibri Light"/>
              </a:rPr>
              <a:t>were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transformed </a:t>
            </a:r>
            <a:r>
              <a:rPr sz="1200" b="0" dirty="0">
                <a:latin typeface="Calibri Light"/>
                <a:cs typeface="Calibri Light"/>
              </a:rPr>
              <a:t>into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clean,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structured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insights</a:t>
            </a:r>
            <a:r>
              <a:rPr sz="1200" b="0" spc="-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using</a:t>
            </a:r>
            <a:r>
              <a:rPr sz="1200" b="0" spc="-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Power</a:t>
            </a:r>
            <a:r>
              <a:rPr sz="1200" b="0" spc="-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Query,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PivotTables,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and</a:t>
            </a:r>
            <a:r>
              <a:rPr sz="1200" b="0" spc="-35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interactive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Excel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200" b="0" spc="-10" dirty="0">
                <a:latin typeface="Calibri Light"/>
                <a:cs typeface="Calibri Light"/>
              </a:rPr>
              <a:t>dashboards.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200" b="0" dirty="0">
                <a:latin typeface="Calibri Light"/>
                <a:cs typeface="Calibri Light"/>
              </a:rPr>
              <a:t>Through</a:t>
            </a:r>
            <a:r>
              <a:rPr sz="1200" b="0" spc="-3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data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visualization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and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key</a:t>
            </a:r>
            <a:r>
              <a:rPr sz="1200" b="0" spc="-4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performance</a:t>
            </a:r>
            <a:r>
              <a:rPr sz="1200" b="0" spc="-4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indicators</a:t>
            </a:r>
            <a:r>
              <a:rPr sz="1200" b="0" spc="-3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(KPIs),</a:t>
            </a:r>
            <a:r>
              <a:rPr sz="1200" b="0" spc="-3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this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analysis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reveals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how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different</a:t>
            </a:r>
            <a:r>
              <a:rPr sz="1200" b="0" spc="-4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groups</a:t>
            </a:r>
            <a:endParaRPr sz="1200">
              <a:latin typeface="Calibri Light"/>
              <a:cs typeface="Calibri Light"/>
            </a:endParaRPr>
          </a:p>
          <a:p>
            <a:pPr marL="12700" marR="63500">
              <a:lnSpc>
                <a:spcPct val="117500"/>
              </a:lnSpc>
              <a:spcBef>
                <a:spcPts val="10"/>
              </a:spcBef>
            </a:pPr>
            <a:r>
              <a:rPr sz="1200" b="0" dirty="0">
                <a:latin typeface="Calibri Light"/>
                <a:cs typeface="Calibri Light"/>
              </a:rPr>
              <a:t>of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respondents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across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India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use,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trust,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and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rely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on</a:t>
            </a:r>
            <a:r>
              <a:rPr sz="1200" b="0" spc="-1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UPI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in</a:t>
            </a:r>
            <a:r>
              <a:rPr sz="1200" b="0" spc="-1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daily</a:t>
            </a:r>
            <a:r>
              <a:rPr sz="1200" b="0" spc="-2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life,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reflecting </a:t>
            </a:r>
            <a:r>
              <a:rPr sz="1200" b="0" dirty="0">
                <a:latin typeface="Calibri Light"/>
                <a:cs typeface="Calibri Light"/>
              </a:rPr>
              <a:t>the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broader</a:t>
            </a:r>
            <a:r>
              <a:rPr sz="1200" b="0" spc="-25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success</a:t>
            </a:r>
            <a:r>
              <a:rPr sz="1200" b="0" spc="-10" dirty="0">
                <a:latin typeface="Calibri Light"/>
                <a:cs typeface="Calibri Light"/>
              </a:rPr>
              <a:t> </a:t>
            </a:r>
            <a:r>
              <a:rPr sz="1200" b="0" dirty="0">
                <a:latin typeface="Calibri Light"/>
                <a:cs typeface="Calibri Light"/>
              </a:rPr>
              <a:t>of</a:t>
            </a:r>
            <a:r>
              <a:rPr sz="1200" b="0" spc="-3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India’s </a:t>
            </a:r>
            <a:r>
              <a:rPr sz="1200" b="0" dirty="0">
                <a:latin typeface="Calibri Light"/>
                <a:cs typeface="Calibri Light"/>
              </a:rPr>
              <a:t>cashless</a:t>
            </a:r>
            <a:r>
              <a:rPr sz="1200" b="0" spc="-40" dirty="0">
                <a:latin typeface="Calibri Light"/>
                <a:cs typeface="Calibri Light"/>
              </a:rPr>
              <a:t> </a:t>
            </a:r>
            <a:r>
              <a:rPr sz="1200" b="0" spc="-10" dirty="0">
                <a:latin typeface="Calibri Light"/>
                <a:cs typeface="Calibri Light"/>
              </a:rPr>
              <a:t>ecosystem.</a:t>
            </a:r>
            <a:endParaRPr sz="12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2308859"/>
            <a:ext cx="6647815" cy="20320"/>
            <a:chOff x="457200" y="2308859"/>
            <a:chExt cx="6647815" cy="20320"/>
          </a:xfrm>
        </p:grpSpPr>
        <p:sp>
          <p:nvSpPr>
            <p:cNvPr id="4" name="object 4"/>
            <p:cNvSpPr/>
            <p:nvPr/>
          </p:nvSpPr>
          <p:spPr>
            <a:xfrm>
              <a:off x="457200" y="230885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266"/>
                  </a:lnTo>
                  <a:lnTo>
                    <a:pt x="0" y="3302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230911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2309126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231216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232587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232587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4500" y="2411521"/>
            <a:ext cx="2499360" cy="6534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1.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Analytical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Tools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Techniques:</a:t>
            </a:r>
            <a:endParaRPr sz="1400">
              <a:latin typeface="Calibri Light"/>
              <a:cs typeface="Calibri Light"/>
            </a:endParaRPr>
          </a:p>
          <a:p>
            <a:pPr marL="147955" marR="1739264" indent="127635">
              <a:lnSpc>
                <a:spcPct val="101800"/>
              </a:lnSpc>
              <a:spcBef>
                <a:spcPts val="240"/>
              </a:spcBef>
            </a:pPr>
            <a:r>
              <a:rPr sz="1100" b="1" dirty="0">
                <a:latin typeface="Calibri"/>
                <a:cs typeface="Calibri"/>
              </a:rPr>
              <a:t>Tool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/</a:t>
            </a:r>
            <a:r>
              <a:rPr sz="1100" b="1" spc="-10" dirty="0">
                <a:latin typeface="Calibri"/>
                <a:cs typeface="Calibri"/>
              </a:rPr>
              <a:t> Technique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3822" y="2785618"/>
            <a:ext cx="11309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Purpose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/ </a:t>
            </a:r>
            <a:r>
              <a:rPr sz="1100" b="1" spc="-10" dirty="0">
                <a:latin typeface="Calibri"/>
                <a:cs typeface="Calibri"/>
              </a:rPr>
              <a:t>Function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87" y="3267582"/>
            <a:ext cx="7886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Power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Query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1450" y="3182238"/>
            <a:ext cx="557403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56615" marR="5080" indent="-84455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Cleaned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standardized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60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survey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responses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removed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duplicates,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corrected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formatting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errors,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categorical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(e.g.,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age,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frequency,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names).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1472" y="3663822"/>
            <a:ext cx="587375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30810">
              <a:lnSpc>
                <a:spcPct val="101800"/>
              </a:lnSpc>
              <a:spcBef>
                <a:spcPts val="80"/>
              </a:spcBef>
            </a:pPr>
            <a:r>
              <a:rPr sz="1100" b="1" spc="-10" dirty="0">
                <a:latin typeface="Calibri"/>
                <a:cs typeface="Calibri"/>
              </a:rPr>
              <a:t>Excel Functions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3746" y="3662298"/>
            <a:ext cx="5410835" cy="3663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475865" marR="5080" indent="-2463800">
              <a:lnSpc>
                <a:spcPct val="102699"/>
              </a:lnSpc>
              <a:spcBef>
                <a:spcPts val="65"/>
              </a:spcBef>
            </a:pPr>
            <a:r>
              <a:rPr sz="1100" dirty="0">
                <a:latin typeface="Calibri"/>
                <a:cs typeface="Calibri"/>
              </a:rPr>
              <a:t>Used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formulas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 </a:t>
            </a:r>
            <a:r>
              <a:rPr sz="1000" spc="-10" dirty="0">
                <a:latin typeface="Courier New"/>
                <a:cs typeface="Courier New"/>
              </a:rPr>
              <a:t>=TRIM()</a:t>
            </a:r>
            <a:r>
              <a:rPr sz="1100" spc="-10" dirty="0">
                <a:latin typeface="Calibri"/>
                <a:cs typeface="Calibri"/>
              </a:rPr>
              <a:t>, </a:t>
            </a:r>
            <a:r>
              <a:rPr sz="1000" dirty="0">
                <a:latin typeface="Courier New"/>
                <a:cs typeface="Courier New"/>
              </a:rPr>
              <a:t>=IFERROR()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=COUNTIF()</a:t>
            </a:r>
            <a:r>
              <a:rPr sz="1000" spc="-345" dirty="0">
                <a:latin typeface="Courier New"/>
                <a:cs typeface="Courier New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validate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prepare metrics.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9844" y="4143882"/>
            <a:ext cx="7308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Pivot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Tables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2222" y="4143882"/>
            <a:ext cx="54133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Aggregated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survey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results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calculate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adoption,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share,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frequency,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purpose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use.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368" y="4454778"/>
            <a:ext cx="7277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Pivot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Charts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23286" y="4454778"/>
            <a:ext cx="36131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Visualized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adoption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patterns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Pie,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Column,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charts.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791" y="4849494"/>
            <a:ext cx="8001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Slicers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20" dirty="0">
                <a:latin typeface="Calibri"/>
                <a:cs typeface="Calibri"/>
              </a:rPr>
              <a:t> KPIs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29258" y="4764150"/>
            <a:ext cx="559689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297430" marR="5080" indent="-2285365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Enabled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dynamic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filtering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summarized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total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respondents,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25" dirty="0">
                <a:latin typeface="Calibri"/>
                <a:cs typeface="Calibri"/>
              </a:rPr>
              <a:t> %,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top UPI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4500" y="5233542"/>
            <a:ext cx="6480810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Together,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clean-to-</a:t>
            </a: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workflow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insights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corporate-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clarity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precision.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7200" y="7502525"/>
            <a:ext cx="6647815" cy="20955"/>
            <a:chOff x="457200" y="7502525"/>
            <a:chExt cx="6647815" cy="20955"/>
          </a:xfrm>
        </p:grpSpPr>
        <p:sp>
          <p:nvSpPr>
            <p:cNvPr id="24" name="object 24"/>
            <p:cNvSpPr/>
            <p:nvPr/>
          </p:nvSpPr>
          <p:spPr>
            <a:xfrm>
              <a:off x="457200" y="750252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028"/>
                  </a:lnTo>
                  <a:lnTo>
                    <a:pt x="0" y="4064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01585" y="750354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7503553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01585" y="750658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200" y="75203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00" y="7520304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161084" y="7981950"/>
            <a:ext cx="41020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Metric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4500" y="7606988"/>
            <a:ext cx="3059430" cy="4838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2.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Key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Dashboard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Metrics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(KPI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Summary):</a:t>
            </a:r>
            <a:endParaRPr sz="1400">
              <a:latin typeface="Calibri Light"/>
              <a:cs typeface="Calibri Light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1100" b="1" dirty="0">
                <a:latin typeface="Calibri"/>
                <a:cs typeface="Calibri"/>
              </a:rPr>
              <a:t>Value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(from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Real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46375" y="8026755"/>
            <a:ext cx="518795" cy="6502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100" b="1" spc="-10" dirty="0">
                <a:latin typeface="Calibri"/>
                <a:cs typeface="Calibri"/>
              </a:rPr>
              <a:t>Dataset)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100" spc="-25" dirty="0">
                <a:latin typeface="Calibri"/>
                <a:cs typeface="Calibri"/>
              </a:rPr>
              <a:t>60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100" spc="-25" dirty="0">
                <a:latin typeface="Calibri"/>
                <a:cs typeface="Calibri"/>
              </a:rPr>
              <a:t>93%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93004" y="7981950"/>
            <a:ext cx="8528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Interpretation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2088" y="8237066"/>
            <a:ext cx="1106805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105" marR="5080" indent="-66040">
              <a:lnSpc>
                <a:spcPct val="1236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Total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Respondents </a:t>
            </a:r>
            <a:r>
              <a:rPr sz="1100" b="1" dirty="0">
                <a:latin typeface="Calibri"/>
                <a:cs typeface="Calibri"/>
              </a:rPr>
              <a:t>Active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UPI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Users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01566" y="8237066"/>
            <a:ext cx="3034665" cy="1028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04190">
              <a:lnSpc>
                <a:spcPct val="1241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Total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valid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responses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after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cleaning</a:t>
            </a:r>
            <a:r>
              <a:rPr sz="1100" spc="5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Indicates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widespread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adoption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population </a:t>
            </a:r>
            <a:r>
              <a:rPr sz="1100" dirty="0">
                <a:latin typeface="Calibri"/>
                <a:cs typeface="Calibri"/>
              </a:rPr>
              <a:t>Preferred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seamless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experience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cashback</a:t>
            </a:r>
            <a:endParaRPr sz="11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25"/>
              </a:spcBef>
            </a:pPr>
            <a:r>
              <a:rPr sz="1100" spc="-10" dirty="0">
                <a:latin typeface="Calibri"/>
                <a:cs typeface="Calibri"/>
              </a:rPr>
              <a:t>rewards</a:t>
            </a:r>
            <a:endParaRPr sz="11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325"/>
              </a:spcBef>
            </a:pPr>
            <a:r>
              <a:rPr sz="1100" dirty="0">
                <a:latin typeface="Calibri"/>
                <a:cs typeface="Calibri"/>
              </a:rPr>
              <a:t>Trusted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reliability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quick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processing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5908" y="8777477"/>
            <a:ext cx="9404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Top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Application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94914" y="8777477"/>
            <a:ext cx="1021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Google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(46%)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4708" y="9031122"/>
            <a:ext cx="15621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0185">
              <a:lnSpc>
                <a:spcPct val="1245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Second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Application </a:t>
            </a:r>
            <a:r>
              <a:rPr sz="1100" b="1" dirty="0">
                <a:latin typeface="Calibri"/>
                <a:cs typeface="Calibri"/>
              </a:rPr>
              <a:t>Other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Apps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(Paytm,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BHIM,</a:t>
            </a:r>
            <a:endParaRPr sz="11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20"/>
              </a:spcBef>
            </a:pPr>
            <a:r>
              <a:rPr sz="1100" b="1" spc="-10" dirty="0">
                <a:latin typeface="Calibri"/>
                <a:cs typeface="Calibri"/>
              </a:rPr>
              <a:t>etc.)</a:t>
            </a:r>
            <a:endParaRPr sz="1100">
              <a:latin typeface="Calibri"/>
              <a:cs typeface="Calibri"/>
            </a:endParaRPr>
          </a:p>
          <a:p>
            <a:pPr marL="24765" marR="15875" algn="ctr">
              <a:lnSpc>
                <a:spcPct val="124500"/>
              </a:lnSpc>
              <a:spcBef>
                <a:spcPts val="5"/>
              </a:spcBef>
            </a:pPr>
            <a:r>
              <a:rPr sz="1100" b="1" dirty="0">
                <a:latin typeface="Calibri"/>
                <a:cs typeface="Calibri"/>
              </a:rPr>
              <a:t>Average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Frequency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of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Use </a:t>
            </a:r>
            <a:r>
              <a:rPr sz="1100" b="1" dirty="0">
                <a:latin typeface="Calibri"/>
                <a:cs typeface="Calibri"/>
              </a:rPr>
              <a:t>Reported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Issues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61970" y="9071609"/>
            <a:ext cx="8877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PhonePe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(32%)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72639" y="9365691"/>
            <a:ext cx="8661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22%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combined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73904" y="9365691"/>
            <a:ext cx="16922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Moderate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loyal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base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35479" y="9619284"/>
            <a:ext cx="11410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5080" indent="-436245">
              <a:lnSpc>
                <a:spcPct val="1245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3–</a:t>
            </a:r>
            <a:r>
              <a:rPr sz="1100" dirty="0">
                <a:latin typeface="Calibri"/>
                <a:cs typeface="Calibri"/>
              </a:rPr>
              <a:t>4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times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week </a:t>
            </a:r>
            <a:r>
              <a:rPr sz="1100" spc="-25" dirty="0">
                <a:latin typeface="Calibri"/>
                <a:cs typeface="Calibri"/>
              </a:rPr>
              <a:t>17%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08603" y="9619284"/>
            <a:ext cx="321881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5910">
              <a:lnSpc>
                <a:spcPct val="1245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Suggests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UPI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 integrated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weekly </a:t>
            </a:r>
            <a:r>
              <a:rPr sz="1100" spc="-10" dirty="0">
                <a:latin typeface="Calibri"/>
                <a:cs typeface="Calibri"/>
              </a:rPr>
              <a:t>routine </a:t>
            </a:r>
            <a:r>
              <a:rPr sz="1100" dirty="0">
                <a:latin typeface="Calibri"/>
                <a:cs typeface="Calibri"/>
              </a:rPr>
              <a:t>Minor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problems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transaction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delay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failed</a:t>
            </a:r>
            <a:r>
              <a:rPr sz="1100" spc="-10" dirty="0">
                <a:latin typeface="Calibri"/>
                <a:cs typeface="Calibri"/>
              </a:rPr>
              <a:t> transfers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606160"/>
            <a:ext cx="6249034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814831"/>
            <a:ext cx="663829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b="1" i="1" spc="-10" dirty="0">
                <a:latin typeface="Times New Roman"/>
                <a:cs typeface="Times New Roman"/>
              </a:rPr>
              <a:t>Interpretation</a:t>
            </a:r>
            <a:r>
              <a:rPr sz="1200" i="1" spc="-1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majority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actively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regular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country’s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growing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maturity.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570604"/>
            <a:ext cx="6647815" cy="20955"/>
            <a:chOff x="457200" y="3570604"/>
            <a:chExt cx="6647815" cy="20955"/>
          </a:xfrm>
        </p:grpSpPr>
        <p:sp>
          <p:nvSpPr>
            <p:cNvPr id="4" name="object 4"/>
            <p:cNvSpPr/>
            <p:nvPr/>
          </p:nvSpPr>
          <p:spPr>
            <a:xfrm>
              <a:off x="457200" y="357060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74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357136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57137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357441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58813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358814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4500" y="3703446"/>
            <a:ext cx="6176645" cy="77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3.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Application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Preferences:</a:t>
            </a:r>
            <a:endParaRPr sz="1400">
              <a:latin typeface="Calibri Light"/>
              <a:cs typeface="Calibri Light"/>
            </a:endParaRPr>
          </a:p>
          <a:p>
            <a:pPr marL="12700" marR="5080">
              <a:lnSpc>
                <a:spcPts val="1380"/>
              </a:lnSpc>
              <a:spcBef>
                <a:spcPts val="1510"/>
              </a:spcBef>
            </a:pP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PhonePe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Paytm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together </a:t>
            </a:r>
            <a:r>
              <a:rPr sz="1200" dirty="0">
                <a:latin typeface="Times New Roman"/>
                <a:cs typeface="Times New Roman"/>
              </a:rPr>
              <a:t>dominate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80%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all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transactions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22986" y="4703698"/>
          <a:ext cx="6109970" cy="1551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UPI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Application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05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Users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(From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2095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Data)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Insights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Google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Pay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46%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Known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user-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friendly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design,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fast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payments,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cashback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offers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PhonePe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32%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Reliable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brand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trust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strong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second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Paytm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Preferred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wallet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vendors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R="95250" algn="ctr">
                        <a:lnSpc>
                          <a:spcPts val="1275"/>
                        </a:lnSpc>
                        <a:spcBef>
                          <a:spcPts val="40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BHIM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1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Others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275"/>
                        </a:lnSpc>
                        <a:spcBef>
                          <a:spcPts val="40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1275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Retains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steady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niche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base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44500" y="6544436"/>
            <a:ext cx="6311900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b="1" i="1" dirty="0">
                <a:latin typeface="Times New Roman"/>
                <a:cs typeface="Times New Roman"/>
              </a:rPr>
              <a:t>Observation</a:t>
            </a:r>
            <a:r>
              <a:rPr sz="1200" i="1" dirty="0">
                <a:latin typeface="Times New Roman"/>
                <a:cs typeface="Times New Roman"/>
              </a:rPr>
              <a:t>: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PhonePe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collectively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nearly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80%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mirroring</a:t>
            </a:r>
            <a:r>
              <a:rPr sz="1200" spc="-10" dirty="0">
                <a:latin typeface="Times New Roman"/>
                <a:cs typeface="Times New Roman"/>
              </a:rPr>
              <a:t> 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10" dirty="0">
                <a:latin typeface="Times New Roman"/>
                <a:cs typeface="Times New Roman"/>
              </a:rPr>
              <a:t> India.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200" y="8209894"/>
            <a:ext cx="2120265" cy="18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0"/>
              </a:lnSpc>
            </a:pPr>
            <a:r>
              <a:rPr sz="1400" dirty="0">
                <a:solidFill>
                  <a:srgbClr val="1F3762"/>
                </a:solidFill>
                <a:latin typeface="Segoe UI Emoji"/>
                <a:cs typeface="Segoe UI Emoji"/>
              </a:rPr>
              <a:t>🔹</a:t>
            </a:r>
            <a:r>
              <a:rPr sz="1400" spc="-85" dirty="0">
                <a:solidFill>
                  <a:srgbClr val="1F3762"/>
                </a:solidFill>
                <a:latin typeface="Segoe UI Emoji"/>
                <a:cs typeface="Segoe UI Emoji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4.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Frequency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of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Usage</a:t>
            </a:r>
            <a:endParaRPr sz="1400">
              <a:latin typeface="Calibri Light"/>
              <a:cs typeface="Calibri Ligh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7200" y="9879965"/>
            <a:ext cx="6647815" cy="21590"/>
            <a:chOff x="457200" y="9879965"/>
            <a:chExt cx="6647815" cy="21590"/>
          </a:xfrm>
        </p:grpSpPr>
        <p:sp>
          <p:nvSpPr>
            <p:cNvPr id="15" name="object 15"/>
            <p:cNvSpPr/>
            <p:nvPr/>
          </p:nvSpPr>
          <p:spPr>
            <a:xfrm>
              <a:off x="457200" y="9879965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358"/>
                  </a:lnTo>
                  <a:lnTo>
                    <a:pt x="0" y="4394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01585" y="988131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988132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01585" y="988435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989807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200" y="989807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41271"/>
            <a:ext cx="6645275" cy="173100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655" y="7186764"/>
            <a:ext cx="6432550" cy="240028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226310" y="9618674"/>
            <a:ext cx="28752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Distribution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of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UPI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app</a:t>
            </a:r>
            <a:r>
              <a:rPr sz="1000" i="1" spc="-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preferences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among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respondents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8358" y="5136007"/>
            <a:ext cx="2324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Frequency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of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usage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among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respondents.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5420994"/>
            <a:ext cx="6647815" cy="20320"/>
            <a:chOff x="457200" y="5420994"/>
            <a:chExt cx="6647815" cy="20320"/>
          </a:xfrm>
        </p:grpSpPr>
        <p:sp>
          <p:nvSpPr>
            <p:cNvPr id="4" name="object 4"/>
            <p:cNvSpPr/>
            <p:nvPr/>
          </p:nvSpPr>
          <p:spPr>
            <a:xfrm>
              <a:off x="457200" y="542099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520"/>
                  </a:lnTo>
                  <a:lnTo>
                    <a:pt x="0" y="3556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542150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542151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542455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543826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543827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4500" y="5465444"/>
            <a:ext cx="6539865" cy="791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5.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Purpose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of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4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Transactions:</a:t>
            </a:r>
            <a:endParaRPr sz="1400">
              <a:latin typeface="Calibri Light"/>
              <a:cs typeface="Calibri Light"/>
            </a:endParaRPr>
          </a:p>
          <a:p>
            <a:pPr marL="12700" marR="5080">
              <a:lnSpc>
                <a:spcPts val="138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Respondents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purposes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confirming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versatility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widespread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adoption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everyday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life.</a:t>
            </a:r>
            <a:endParaRPr sz="1200">
              <a:latin typeface="Times New Roman"/>
              <a:cs typeface="Times New Roman"/>
            </a:endParaRPr>
          </a:p>
          <a:p>
            <a:pPr marL="1381125">
              <a:lnSpc>
                <a:spcPct val="100000"/>
              </a:lnSpc>
              <a:spcBef>
                <a:spcPts val="160"/>
              </a:spcBef>
            </a:pPr>
            <a:r>
              <a:rPr sz="1100" b="1" dirty="0">
                <a:latin typeface="Calibri"/>
                <a:cs typeface="Calibri"/>
              </a:rPr>
              <a:t>%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of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Users </a:t>
            </a:r>
            <a:r>
              <a:rPr sz="1100" b="1" spc="-10" dirty="0">
                <a:latin typeface="Calibri"/>
                <a:cs typeface="Calibri"/>
              </a:rPr>
              <a:t>(From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47061" y="6233540"/>
            <a:ext cx="3441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Calibri"/>
                <a:cs typeface="Calibri"/>
              </a:rPr>
              <a:t>Data)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1420" y="6148196"/>
            <a:ext cx="44843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22725" algn="l"/>
              </a:tabLst>
            </a:pPr>
            <a:r>
              <a:rPr sz="1100" b="1" spc="-10" dirty="0">
                <a:latin typeface="Calibri"/>
                <a:cs typeface="Calibri"/>
              </a:rPr>
              <a:t>Purpose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10" dirty="0">
                <a:latin typeface="Calibri"/>
                <a:cs typeface="Calibri"/>
              </a:rPr>
              <a:t>Insights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81837" y="6490080"/>
          <a:ext cx="6315710" cy="725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Shopping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Food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 marL="412750" algn="ctr">
                        <a:lnSpc>
                          <a:spcPts val="105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Most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common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category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—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highlights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ease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retail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dining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1402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payments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Peer-to-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Peer</a:t>
                      </a:r>
                      <a:r>
                        <a:rPr sz="11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(P2P)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1320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2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Quick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trusted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fund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transfers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among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peers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family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177800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Bill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Payments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20%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Efficient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widely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utilities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recharges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444500" y="7237856"/>
            <a:ext cx="974725" cy="5759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10209" marR="5080" indent="-159385">
              <a:lnSpc>
                <a:spcPct val="101800"/>
              </a:lnSpc>
              <a:spcBef>
                <a:spcPts val="80"/>
              </a:spcBef>
            </a:pPr>
            <a:r>
              <a:rPr sz="1100" b="1" dirty="0">
                <a:latin typeface="Calibri"/>
                <a:cs typeface="Calibri"/>
              </a:rPr>
              <a:t>Education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&amp;</a:t>
            </a:r>
            <a:r>
              <a:rPr sz="1100" b="1" spc="-10" dirty="0">
                <a:latin typeface="Calibri"/>
                <a:cs typeface="Calibri"/>
              </a:rPr>
              <a:t> Others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200" b="1" i="1" spc="-10" dirty="0">
                <a:latin typeface="Times New Roman"/>
                <a:cs typeface="Times New Roman"/>
              </a:rPr>
              <a:t>Interpretation</a:t>
            </a:r>
            <a:r>
              <a:rPr sz="1200" i="1" spc="-1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6685" y="7323201"/>
            <a:ext cx="2673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latin typeface="Calibri"/>
                <a:cs typeface="Calibri"/>
              </a:rPr>
              <a:t>15%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49295" y="7323201"/>
            <a:ext cx="35998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Emerging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adoption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among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students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academic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transactions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500" y="7780781"/>
            <a:ext cx="5946140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evolved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beyond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default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day-to-</a:t>
            </a:r>
            <a:r>
              <a:rPr sz="1200" spc="-25" dirty="0">
                <a:latin typeface="Times New Roman"/>
                <a:cs typeface="Times New Roman"/>
              </a:rPr>
              <a:t>day </a:t>
            </a:r>
            <a:r>
              <a:rPr sz="1200" spc="-10" dirty="0">
                <a:latin typeface="Times New Roman"/>
                <a:cs typeface="Times New Roman"/>
              </a:rPr>
              <a:t>transactions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855" y="3377945"/>
            <a:ext cx="6323965" cy="1777746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53466" y="1243837"/>
          <a:ext cx="2125345" cy="1894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495">
                <a:tc>
                  <a:txBody>
                    <a:bodyPr/>
                    <a:lstStyle/>
                    <a:p>
                      <a:pPr marR="268605" algn="ctr">
                        <a:lnSpc>
                          <a:spcPts val="105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Frequency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955" algn="ctr">
                        <a:lnSpc>
                          <a:spcPts val="105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Users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R="26670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Daily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L="27495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42%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28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R="26670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Weekly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 marL="27495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R="27051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Monthly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 marL="27495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R="267335" algn="ctr">
                        <a:lnSpc>
                          <a:spcPts val="1275"/>
                        </a:lnSpc>
                        <a:spcBef>
                          <a:spcPts val="117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Rarely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Never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L="275590" algn="ctr">
                        <a:lnSpc>
                          <a:spcPts val="1275"/>
                        </a:lnSpc>
                        <a:spcBef>
                          <a:spcPts val="117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485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444500" y="432307"/>
            <a:ext cx="6659880" cy="280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50"/>
              </a:lnSpc>
              <a:spcBef>
                <a:spcPts val="100"/>
              </a:spcBef>
            </a:pP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4</a:t>
            </a:r>
            <a:r>
              <a:rPr sz="1400" b="1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Frequency</a:t>
            </a:r>
            <a:r>
              <a:rPr sz="1400" b="1" spc="-3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1400" b="1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UPI</a:t>
            </a:r>
            <a:r>
              <a:rPr sz="1400" b="1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Usage: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evolved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convenience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daily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habit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80%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respondents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daily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weekly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digital integration.</a:t>
            </a:r>
            <a:endParaRPr sz="1200">
              <a:latin typeface="Times New Roman"/>
              <a:cs typeface="Times New Roman"/>
            </a:endParaRPr>
          </a:p>
          <a:p>
            <a:pPr marL="1076325" algn="ctr">
              <a:lnSpc>
                <a:spcPct val="100000"/>
              </a:lnSpc>
              <a:spcBef>
                <a:spcPts val="160"/>
              </a:spcBef>
            </a:pPr>
            <a:r>
              <a:rPr sz="1100" b="1" spc="-10" dirty="0">
                <a:latin typeface="Calibri"/>
                <a:cs typeface="Calibri"/>
              </a:rPr>
              <a:t>Observation</a:t>
            </a:r>
            <a:endParaRPr sz="1100">
              <a:latin typeface="Calibri"/>
              <a:cs typeface="Calibri"/>
            </a:endParaRPr>
          </a:p>
          <a:p>
            <a:pPr marL="2740660" marR="1657350" algn="ctr">
              <a:lnSpc>
                <a:spcPct val="109100"/>
              </a:lnSpc>
              <a:spcBef>
                <a:spcPts val="1115"/>
              </a:spcBef>
            </a:pPr>
            <a:r>
              <a:rPr sz="1100" dirty="0">
                <a:latin typeface="Calibri"/>
                <a:cs typeface="Calibri"/>
              </a:rPr>
              <a:t>Used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regular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expenses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food, </a:t>
            </a:r>
            <a:r>
              <a:rPr sz="1100" dirty="0">
                <a:latin typeface="Calibri"/>
                <a:cs typeface="Calibri"/>
              </a:rPr>
              <a:t>travel,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shopping</a:t>
            </a:r>
            <a:endParaRPr sz="1100">
              <a:latin typeface="Calibri"/>
              <a:cs typeface="Calibri"/>
            </a:endParaRPr>
          </a:p>
          <a:p>
            <a:pPr marL="1077595" algn="ctr">
              <a:lnSpc>
                <a:spcPct val="100000"/>
              </a:lnSpc>
              <a:spcBef>
                <a:spcPts val="1235"/>
              </a:spcBef>
            </a:pPr>
            <a:r>
              <a:rPr sz="1100" dirty="0">
                <a:latin typeface="Calibri"/>
                <a:cs typeface="Calibri"/>
              </a:rPr>
              <a:t>Common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bills,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tuition,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groceries</a:t>
            </a:r>
            <a:endParaRPr sz="1100">
              <a:latin typeface="Calibri"/>
              <a:cs typeface="Calibri"/>
            </a:endParaRPr>
          </a:p>
          <a:p>
            <a:pPr marL="2794635" marR="1708150" algn="ctr">
              <a:lnSpc>
                <a:spcPct val="110000"/>
              </a:lnSpc>
              <a:spcBef>
                <a:spcPts val="1095"/>
              </a:spcBef>
            </a:pPr>
            <a:r>
              <a:rPr sz="1100" dirty="0">
                <a:latin typeface="Calibri"/>
                <a:cs typeface="Calibri"/>
              </a:rPr>
              <a:t>Moderate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UPI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larger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or </a:t>
            </a:r>
            <a:r>
              <a:rPr sz="1100" dirty="0">
                <a:latin typeface="Calibri"/>
                <a:cs typeface="Calibri"/>
              </a:rPr>
              <a:t>planned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transactions</a:t>
            </a:r>
            <a:endParaRPr sz="1100">
              <a:latin typeface="Calibri"/>
              <a:cs typeface="Calibri"/>
            </a:endParaRPr>
          </a:p>
          <a:p>
            <a:pPr marL="2908935" marR="1825625" algn="ctr">
              <a:lnSpc>
                <a:spcPct val="110000"/>
              </a:lnSpc>
              <a:spcBef>
                <a:spcPts val="1090"/>
              </a:spcBef>
            </a:pPr>
            <a:r>
              <a:rPr sz="1100" dirty="0">
                <a:latin typeface="Calibri"/>
                <a:cs typeface="Calibri"/>
              </a:rPr>
              <a:t>Minimal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engagement,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prefer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cash </a:t>
            </a:r>
            <a:r>
              <a:rPr sz="1100" spc="-10" dirty="0">
                <a:latin typeface="Calibri"/>
                <a:cs typeface="Calibri"/>
              </a:rPr>
              <a:t>transactions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7626" y="10448035"/>
            <a:ext cx="3105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Common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categories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of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UPI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transactions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among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respondents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905" y="8187257"/>
            <a:ext cx="6455851" cy="22009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58215"/>
            <a:ext cx="6478905" cy="1475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3762"/>
                </a:solidFill>
                <a:latin typeface="Segoe UI Emoji"/>
                <a:cs typeface="Segoe UI Emoji"/>
              </a:rPr>
              <a:t>🔹</a:t>
            </a:r>
            <a:r>
              <a:rPr sz="1400" b="1" spc="-85" dirty="0">
                <a:solidFill>
                  <a:srgbClr val="1F3762"/>
                </a:solidFill>
                <a:latin typeface="Segoe UI Emoji"/>
                <a:cs typeface="Segoe UI Emoji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6.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Security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Technical</a:t>
            </a:r>
            <a:r>
              <a:rPr sz="14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Challenges:</a:t>
            </a:r>
            <a:endParaRPr sz="14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Although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adoption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nearly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universal,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around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17%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encountered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issues: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132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duplicate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payments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timeout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hours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Lack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awareness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fraud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prevention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most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trust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system’s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reliability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OTP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authentication,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instant </a:t>
            </a:r>
            <a:r>
              <a:rPr sz="1200" b="1" dirty="0">
                <a:latin typeface="Times New Roman"/>
                <a:cs typeface="Times New Roman"/>
              </a:rPr>
              <a:t>refunds,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real-</a:t>
            </a: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transaction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history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41575" y="5913501"/>
            <a:ext cx="26771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Users reporting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technical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or</a:t>
            </a:r>
            <a:r>
              <a:rPr sz="1000" i="1" spc="-10" dirty="0">
                <a:latin typeface="Times New Roman"/>
                <a:cs typeface="Times New Roman"/>
              </a:rPr>
              <a:t> security-</a:t>
            </a:r>
            <a:r>
              <a:rPr sz="1000" i="1" dirty="0">
                <a:latin typeface="Times New Roman"/>
                <a:cs typeface="Times New Roman"/>
              </a:rPr>
              <a:t>related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issues.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6198234"/>
            <a:ext cx="6647815" cy="20955"/>
            <a:chOff x="457200" y="6198234"/>
            <a:chExt cx="6647815" cy="20955"/>
          </a:xfrm>
        </p:grpSpPr>
        <p:sp>
          <p:nvSpPr>
            <p:cNvPr id="5" name="object 5"/>
            <p:cNvSpPr/>
            <p:nvPr/>
          </p:nvSpPr>
          <p:spPr>
            <a:xfrm>
              <a:off x="457200" y="619823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74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619899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619900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01585" y="620204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621576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621577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4500" y="6498716"/>
            <a:ext cx="6652259" cy="3712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Final</a:t>
            </a:r>
            <a:r>
              <a:rPr sz="1600" b="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Dashboard Overview:</a:t>
            </a:r>
            <a:endParaRPr sz="1600">
              <a:latin typeface="Calibri Light"/>
              <a:cs typeface="Calibri Light"/>
            </a:endParaRPr>
          </a:p>
          <a:p>
            <a:pPr marL="12700" marR="264160">
              <a:lnSpc>
                <a:spcPts val="1380"/>
              </a:lnSpc>
              <a:spcBef>
                <a:spcPts val="12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phase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fully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interactive </a:t>
            </a:r>
            <a:r>
              <a:rPr sz="1200" b="1" dirty="0">
                <a:latin typeface="Times New Roman"/>
                <a:cs typeface="Times New Roman"/>
              </a:rPr>
              <a:t>Microsoft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clean,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minimal,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corporate-</a:t>
            </a:r>
            <a:r>
              <a:rPr sz="1200" b="1" dirty="0">
                <a:latin typeface="Times New Roman"/>
                <a:cs typeface="Times New Roman"/>
              </a:rPr>
              <a:t>grade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layout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22796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snapshot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adoption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60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respondents,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allowing </a:t>
            </a:r>
            <a:r>
              <a:rPr sz="1200" dirty="0">
                <a:latin typeface="Times New Roman"/>
                <a:cs typeface="Times New Roman"/>
              </a:rPr>
              <a:t>instant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slicer-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interactivity.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Dashboard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Components</a:t>
            </a:r>
            <a:r>
              <a:rPr sz="14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(Based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on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Actual</a:t>
            </a:r>
            <a:r>
              <a:rPr sz="14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Dataset):</a:t>
            </a:r>
            <a:endParaRPr sz="1400">
              <a:latin typeface="Calibri Light"/>
              <a:cs typeface="Calibri Light"/>
            </a:endParaRPr>
          </a:p>
          <a:p>
            <a:pPr marL="12700" marR="5080" indent="90805">
              <a:lnSpc>
                <a:spcPts val="1380"/>
              </a:lnSpc>
              <a:spcBef>
                <a:spcPts val="1500"/>
              </a:spcBef>
              <a:buFont typeface="Times New Roman"/>
              <a:buChar char="•"/>
              <a:tabLst>
                <a:tab pos="103505" algn="l"/>
              </a:tabLst>
            </a:pPr>
            <a:r>
              <a:rPr sz="1200" b="1" dirty="0">
                <a:latin typeface="Times New Roman"/>
                <a:cs typeface="Times New Roman"/>
              </a:rPr>
              <a:t>KPI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Cards: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metrics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Total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Respondents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(60)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Active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Users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(93%)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Top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App: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Google</a:t>
            </a:r>
            <a:r>
              <a:rPr sz="1200" i="1" spc="-25" dirty="0">
                <a:latin typeface="Times New Roman"/>
                <a:cs typeface="Times New Roman"/>
              </a:rPr>
              <a:t> Pay </a:t>
            </a:r>
            <a:r>
              <a:rPr sz="1200" i="1" dirty="0">
                <a:latin typeface="Times New Roman"/>
                <a:cs typeface="Times New Roman"/>
              </a:rPr>
              <a:t>(46%)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Second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App: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PhonePe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(32%)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Reported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Concerns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(17%)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03505" indent="-90805">
              <a:lnSpc>
                <a:spcPts val="1310"/>
              </a:lnSpc>
              <a:buFont typeface="Times New Roman"/>
              <a:buChar char="•"/>
              <a:tabLst>
                <a:tab pos="103505" algn="l"/>
              </a:tabLst>
            </a:pPr>
            <a:r>
              <a:rPr sz="1200" b="1" dirty="0">
                <a:latin typeface="Times New Roman"/>
                <a:cs typeface="Times New Roman"/>
              </a:rPr>
              <a:t>Interactive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Charts: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7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Pie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Chart: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Preferences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Google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PhonePe,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Paytm,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Others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marR="316230" lvl="1" indent="-229235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Column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Chart: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Daily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(42%)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Weekly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(38%)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Monthly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(15%)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Rarely (5%)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marR="596900" lvl="1" indent="-229235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Bar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Chart: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Purpose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Shopping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(35%)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Peer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Transfers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(30%)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Bills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(20%)</a:t>
            </a:r>
            <a:r>
              <a:rPr sz="1200" spc="-10" dirty="0">
                <a:latin typeface="Times New Roman"/>
                <a:cs typeface="Times New Roman"/>
              </a:rPr>
              <a:t>, </a:t>
            </a:r>
            <a:r>
              <a:rPr sz="1200" i="1" dirty="0">
                <a:latin typeface="Times New Roman"/>
                <a:cs typeface="Times New Roman"/>
              </a:rPr>
              <a:t>Education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&amp;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Others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(15%)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marR="120014" lvl="2" indent="90805">
              <a:lnSpc>
                <a:spcPts val="1380"/>
              </a:lnSpc>
              <a:buChar char="•"/>
              <a:tabLst>
                <a:tab pos="560705" algn="l"/>
              </a:tabLst>
            </a:pP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Age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Group,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Gender,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demographic patterns.</a:t>
            </a:r>
            <a:endParaRPr sz="1200">
              <a:latin typeface="Times New Roman"/>
              <a:cs typeface="Times New Roman"/>
            </a:endParaRPr>
          </a:p>
          <a:p>
            <a:pPr marL="469900" marR="645795" lvl="2" indent="90805">
              <a:lnSpc>
                <a:spcPts val="1380"/>
              </a:lnSpc>
              <a:buFont typeface="Times New Roman"/>
              <a:buChar char="•"/>
              <a:tabLst>
                <a:tab pos="560705" algn="l"/>
              </a:tabLst>
            </a:pPr>
            <a:r>
              <a:rPr sz="1200" b="1" dirty="0">
                <a:latin typeface="Times New Roman"/>
                <a:cs typeface="Times New Roman"/>
              </a:rPr>
              <a:t>Color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Theme: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Blue-Gray-</a:t>
            </a:r>
            <a:r>
              <a:rPr sz="1200" b="1" dirty="0">
                <a:latin typeface="Times New Roman"/>
                <a:cs typeface="Times New Roman"/>
              </a:rPr>
              <a:t>White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palette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readability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presentation excellence.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3244" y="2006726"/>
            <a:ext cx="6304915" cy="3920490"/>
            <a:chOff x="563244" y="2006726"/>
            <a:chExt cx="6304915" cy="392049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244" y="2006726"/>
              <a:ext cx="6113780" cy="1765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404" y="3800601"/>
              <a:ext cx="6294755" cy="21266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5356"/>
            <a:ext cx="6534150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0" dirty="0">
                <a:solidFill>
                  <a:srgbClr val="1F3762"/>
                </a:solidFill>
                <a:latin typeface="Calibri Light"/>
                <a:cs typeface="Calibri Light"/>
              </a:rPr>
              <a:t>Dashboard</a:t>
            </a:r>
            <a:r>
              <a:rPr sz="1400" b="0" spc="-4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400" b="0" spc="-10" dirty="0">
                <a:solidFill>
                  <a:srgbClr val="1F3762"/>
                </a:solidFill>
                <a:latin typeface="Calibri Light"/>
                <a:cs typeface="Calibri Light"/>
              </a:rPr>
              <a:t>Purpose:</a:t>
            </a:r>
            <a:endParaRPr sz="1400">
              <a:latin typeface="Calibri Light"/>
              <a:cs typeface="Calibri Light"/>
            </a:endParaRPr>
          </a:p>
          <a:p>
            <a:pPr marL="12700" marR="511809">
              <a:lnSpc>
                <a:spcPts val="1380"/>
              </a:lnSpc>
              <a:spcBef>
                <a:spcPts val="148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decision-</a:t>
            </a:r>
            <a:r>
              <a:rPr sz="1200" b="1" dirty="0">
                <a:latin typeface="Times New Roman"/>
                <a:cs typeface="Times New Roman"/>
              </a:rPr>
              <a:t>support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tool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interactive </a:t>
            </a:r>
            <a:r>
              <a:rPr sz="1200" b="1" dirty="0">
                <a:latin typeface="Times New Roman"/>
                <a:cs typeface="Times New Roman"/>
              </a:rPr>
              <a:t>analytical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model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 </a:t>
            </a:r>
            <a:r>
              <a:rPr sz="1200" dirty="0">
                <a:latin typeface="Times New Roman"/>
                <a:cs typeface="Times New Roman"/>
              </a:rPr>
              <a:t>ecosystem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patterns.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7022972"/>
            <a:ext cx="6487795" cy="2305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Summary</a:t>
            </a:r>
            <a:r>
              <a:rPr sz="1400" b="1" spc="-1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1400"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 Insights: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200" dirty="0">
                <a:latin typeface="Segoe UI Emoji"/>
                <a:cs typeface="Segoe UI Emoji"/>
              </a:rPr>
              <a:t>✅</a:t>
            </a:r>
            <a:r>
              <a:rPr sz="1200" spc="-60" dirty="0">
                <a:latin typeface="Segoe UI Emoji"/>
                <a:cs typeface="Segoe UI Emoji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93%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participants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penetration.</a:t>
            </a:r>
            <a:endParaRPr sz="1200">
              <a:latin typeface="Times New Roman"/>
              <a:cs typeface="Times New Roman"/>
            </a:endParaRPr>
          </a:p>
          <a:p>
            <a:pPr marL="12700" marR="8255">
              <a:lnSpc>
                <a:spcPts val="1420"/>
              </a:lnSpc>
              <a:spcBef>
                <a:spcPts val="220"/>
              </a:spcBef>
            </a:pPr>
            <a:r>
              <a:rPr sz="1200" dirty="0">
                <a:latin typeface="Segoe UI Emoji"/>
                <a:cs typeface="Segoe UI Emoji"/>
              </a:rPr>
              <a:t>✅</a:t>
            </a:r>
            <a:r>
              <a:rPr sz="1200" spc="-65" dirty="0">
                <a:latin typeface="Segoe UI Emoji"/>
                <a:cs typeface="Segoe UI Emoji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(46%)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PhonePe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(32%)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dominate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market share.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latin typeface="Segoe UI Emoji"/>
                <a:cs typeface="Segoe UI Emoji"/>
              </a:rPr>
              <a:t>✅</a:t>
            </a:r>
            <a:r>
              <a:rPr sz="1200" spc="-55" dirty="0">
                <a:latin typeface="Segoe UI Emoji"/>
                <a:cs typeface="Segoe UI Emoji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now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daily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life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groceries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tuition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Segoe UI Emoji"/>
                <a:cs typeface="Segoe UI Emoji"/>
              </a:rPr>
              <a:t>✅</a:t>
            </a:r>
            <a:r>
              <a:rPr sz="1200" spc="-65" dirty="0">
                <a:latin typeface="Segoe UI Emoji"/>
                <a:cs typeface="Segoe UI Emoji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17%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security.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420"/>
              </a:lnSpc>
              <a:spcBef>
                <a:spcPts val="220"/>
              </a:spcBef>
            </a:pPr>
            <a:r>
              <a:rPr sz="1200" dirty="0">
                <a:latin typeface="Segoe UI Emoji"/>
                <a:cs typeface="Segoe UI Emoji"/>
              </a:rPr>
              <a:t>✅</a:t>
            </a:r>
            <a:r>
              <a:rPr sz="1200" spc="-65" dirty="0">
                <a:latin typeface="Segoe UI Emoji"/>
                <a:cs typeface="Segoe UI Emoji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Overall,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youth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working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population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digital </a:t>
            </a:r>
            <a:r>
              <a:rPr sz="1200" dirty="0">
                <a:latin typeface="Times New Roman"/>
                <a:cs typeface="Times New Roman"/>
              </a:rPr>
              <a:t>finance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revolution.</a:t>
            </a:r>
            <a:endParaRPr sz="1200">
              <a:latin typeface="Times New Roman"/>
              <a:cs typeface="Times New Roman"/>
            </a:endParaRPr>
          </a:p>
          <a:p>
            <a:pPr marL="12700" marR="285750">
              <a:lnSpc>
                <a:spcPts val="1380"/>
              </a:lnSpc>
              <a:spcBef>
                <a:spcPts val="137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storytelling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into </a:t>
            </a:r>
            <a:r>
              <a:rPr sz="1200" dirty="0">
                <a:latin typeface="Times New Roman"/>
                <a:cs typeface="Times New Roman"/>
              </a:rPr>
              <a:t>actionable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9434829"/>
            <a:ext cx="6647815" cy="21590"/>
            <a:chOff x="457200" y="9434829"/>
            <a:chExt cx="6647815" cy="21590"/>
          </a:xfrm>
        </p:grpSpPr>
        <p:sp>
          <p:nvSpPr>
            <p:cNvPr id="5" name="object 5"/>
            <p:cNvSpPr/>
            <p:nvPr/>
          </p:nvSpPr>
          <p:spPr>
            <a:xfrm>
              <a:off x="457200" y="9434829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1485"/>
                  </a:lnTo>
                  <a:lnTo>
                    <a:pt x="0" y="4521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943630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943631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01585" y="943935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945306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945307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46" y="1624710"/>
            <a:ext cx="7346315" cy="52654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485899"/>
            <a:ext cx="6647815" cy="20320"/>
            <a:chOff x="457200" y="1485899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148589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254"/>
                  </a:lnTo>
                  <a:lnTo>
                    <a:pt x="0" y="3302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148615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486153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148920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50291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50291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2807334"/>
            <a:ext cx="6647815" cy="20320"/>
            <a:chOff x="457200" y="2807334"/>
            <a:chExt cx="6647815" cy="20320"/>
          </a:xfrm>
        </p:grpSpPr>
        <p:sp>
          <p:nvSpPr>
            <p:cNvPr id="10" name="object 10"/>
            <p:cNvSpPr/>
            <p:nvPr/>
          </p:nvSpPr>
          <p:spPr>
            <a:xfrm>
              <a:off x="457200" y="280733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127"/>
                  </a:lnTo>
                  <a:lnTo>
                    <a:pt x="0" y="3175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1585" y="280746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280746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281050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28242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282422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57200" y="4126864"/>
            <a:ext cx="6647815" cy="20955"/>
            <a:chOff x="457200" y="4126864"/>
            <a:chExt cx="6647815" cy="20955"/>
          </a:xfrm>
        </p:grpSpPr>
        <p:sp>
          <p:nvSpPr>
            <p:cNvPr id="17" name="object 17"/>
            <p:cNvSpPr/>
            <p:nvPr/>
          </p:nvSpPr>
          <p:spPr>
            <a:xfrm>
              <a:off x="457200" y="4126877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49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01585" y="412762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4127626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60"/>
                  </a:lnTo>
                  <a:lnTo>
                    <a:pt x="6647421" y="3060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01585" y="413067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414439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414440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57200" y="5126989"/>
            <a:ext cx="6647815" cy="20320"/>
            <a:chOff x="457200" y="5126989"/>
            <a:chExt cx="6647815" cy="20320"/>
          </a:xfrm>
        </p:grpSpPr>
        <p:sp>
          <p:nvSpPr>
            <p:cNvPr id="24" name="object 24"/>
            <p:cNvSpPr/>
            <p:nvPr/>
          </p:nvSpPr>
          <p:spPr>
            <a:xfrm>
              <a:off x="457200" y="512698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381"/>
                  </a:lnTo>
                  <a:lnTo>
                    <a:pt x="0" y="3429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01585" y="512737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5127370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01585" y="513041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200" y="514413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00" y="514414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57200" y="6286499"/>
            <a:ext cx="6647815" cy="20955"/>
            <a:chOff x="457200" y="6286499"/>
            <a:chExt cx="6647815" cy="20955"/>
          </a:xfrm>
        </p:grpSpPr>
        <p:sp>
          <p:nvSpPr>
            <p:cNvPr id="31" name="object 31"/>
            <p:cNvSpPr/>
            <p:nvPr/>
          </p:nvSpPr>
          <p:spPr>
            <a:xfrm>
              <a:off x="457200" y="628649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889"/>
                  </a:lnTo>
                  <a:lnTo>
                    <a:pt x="0" y="3937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01585" y="628738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200" y="6287388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01585" y="629043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630415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200" y="6304152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57200" y="7606029"/>
            <a:ext cx="6647815" cy="20955"/>
            <a:chOff x="457200" y="7606029"/>
            <a:chExt cx="6647815" cy="20955"/>
          </a:xfrm>
        </p:grpSpPr>
        <p:sp>
          <p:nvSpPr>
            <p:cNvPr id="38" name="object 38"/>
            <p:cNvSpPr/>
            <p:nvPr/>
          </p:nvSpPr>
          <p:spPr>
            <a:xfrm>
              <a:off x="457200" y="7606042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1143"/>
                  </a:lnTo>
                  <a:lnTo>
                    <a:pt x="0" y="4178"/>
                  </a:lnTo>
                  <a:lnTo>
                    <a:pt x="0" y="20307"/>
                  </a:lnTo>
                  <a:lnTo>
                    <a:pt x="6645910" y="20307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01585" y="760717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7200" y="760718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01585" y="761022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7200" y="762393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7200" y="762394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457200" y="8927465"/>
            <a:ext cx="6647815" cy="21590"/>
            <a:chOff x="457200" y="8927465"/>
            <a:chExt cx="6647815" cy="21590"/>
          </a:xfrm>
        </p:grpSpPr>
        <p:sp>
          <p:nvSpPr>
            <p:cNvPr id="45" name="object 45"/>
            <p:cNvSpPr/>
            <p:nvPr/>
          </p:nvSpPr>
          <p:spPr>
            <a:xfrm>
              <a:off x="457200" y="8927465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409"/>
                  </a:lnTo>
                  <a:lnTo>
                    <a:pt x="0" y="4445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01585" y="89288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7200" y="892887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1585" y="893191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57200" y="89456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57200" y="8945626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44500" y="435355"/>
            <a:ext cx="6668770" cy="9211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Key</a:t>
            </a:r>
            <a:r>
              <a:rPr sz="1600" b="0" spc="-4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Insights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Findings:</a:t>
            </a:r>
            <a:endParaRPr sz="1600">
              <a:latin typeface="Calibri Light"/>
              <a:cs typeface="Calibri Light"/>
            </a:endParaRPr>
          </a:p>
          <a:p>
            <a:pPr marL="12700" marR="254635">
              <a:lnSpc>
                <a:spcPct val="101800"/>
              </a:lnSpc>
              <a:spcBef>
                <a:spcPts val="30"/>
              </a:spcBef>
            </a:pPr>
            <a:r>
              <a:rPr sz="1100" b="0" dirty="0">
                <a:latin typeface="Calibri Light"/>
                <a:cs typeface="Calibri Light"/>
              </a:rPr>
              <a:t>This</a:t>
            </a:r>
            <a:r>
              <a:rPr sz="1100" b="0" spc="-4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section</a:t>
            </a:r>
            <a:r>
              <a:rPr sz="1100" b="0" spc="-3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presents</a:t>
            </a:r>
            <a:r>
              <a:rPr sz="1100" b="0" spc="-2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a</a:t>
            </a:r>
            <a:r>
              <a:rPr sz="1100" b="0" spc="-35" dirty="0">
                <a:latin typeface="Calibri Light"/>
                <a:cs typeface="Calibri Light"/>
              </a:rPr>
              <a:t> </a:t>
            </a:r>
            <a:r>
              <a:rPr sz="1100" b="0" spc="-10" dirty="0">
                <a:latin typeface="Calibri Light"/>
                <a:cs typeface="Calibri Light"/>
              </a:rPr>
              <a:t>comprehensive</a:t>
            </a:r>
            <a:r>
              <a:rPr sz="1100" b="0" spc="-3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summary</a:t>
            </a:r>
            <a:r>
              <a:rPr sz="1100" b="0" spc="-2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of</a:t>
            </a:r>
            <a:r>
              <a:rPr sz="1100" b="0" spc="-2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insights</a:t>
            </a:r>
            <a:r>
              <a:rPr sz="1100" b="0" spc="-2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derived</a:t>
            </a:r>
            <a:r>
              <a:rPr sz="1100" b="0" spc="-2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from</a:t>
            </a:r>
            <a:r>
              <a:rPr sz="1100" b="0" spc="-15" dirty="0">
                <a:latin typeface="Calibri Light"/>
                <a:cs typeface="Calibri Light"/>
              </a:rPr>
              <a:t> </a:t>
            </a:r>
            <a:r>
              <a:rPr sz="1100" b="0" spc="-290" dirty="0">
                <a:latin typeface="Calibri Light"/>
                <a:cs typeface="Calibri Light"/>
              </a:rPr>
              <a:t>6️0</a:t>
            </a:r>
            <a:r>
              <a:rPr sz="1100" b="0" dirty="0">
                <a:latin typeface="Calibri Light"/>
                <a:cs typeface="Calibri Light"/>
              </a:rPr>
              <a:t> valid</a:t>
            </a:r>
            <a:r>
              <a:rPr sz="1100" b="0" spc="-3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survey</a:t>
            </a:r>
            <a:r>
              <a:rPr sz="1100" b="0" spc="-2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responses, analysing</a:t>
            </a:r>
            <a:r>
              <a:rPr sz="1100" b="0" spc="-45" dirty="0">
                <a:latin typeface="Calibri Light"/>
                <a:cs typeface="Calibri Light"/>
              </a:rPr>
              <a:t> </a:t>
            </a:r>
            <a:r>
              <a:rPr sz="1100" b="0" spc="-25" dirty="0">
                <a:latin typeface="Calibri Light"/>
                <a:cs typeface="Calibri Light"/>
              </a:rPr>
              <a:t>how </a:t>
            </a:r>
            <a:r>
              <a:rPr sz="1100" b="0" dirty="0">
                <a:latin typeface="Calibri Light"/>
                <a:cs typeface="Calibri Light"/>
              </a:rPr>
              <a:t>Unified</a:t>
            </a:r>
            <a:r>
              <a:rPr sz="1100" b="0" spc="-20" dirty="0">
                <a:latin typeface="Calibri Light"/>
                <a:cs typeface="Calibri Light"/>
              </a:rPr>
              <a:t> </a:t>
            </a:r>
            <a:r>
              <a:rPr sz="1100" b="0" spc="-10" dirty="0">
                <a:latin typeface="Calibri Light"/>
                <a:cs typeface="Calibri Light"/>
              </a:rPr>
              <a:t>Payments</a:t>
            </a:r>
            <a:r>
              <a:rPr sz="1100" b="0" spc="-15" dirty="0">
                <a:latin typeface="Calibri Light"/>
                <a:cs typeface="Calibri Light"/>
              </a:rPr>
              <a:t> </a:t>
            </a:r>
            <a:r>
              <a:rPr sz="1100" b="0" spc="-10" dirty="0">
                <a:latin typeface="Calibri Light"/>
                <a:cs typeface="Calibri Light"/>
              </a:rPr>
              <a:t>Interface</a:t>
            </a:r>
            <a:r>
              <a:rPr sz="1100" b="0" spc="-3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(UPI)</a:t>
            </a:r>
            <a:r>
              <a:rPr sz="1100" b="0" spc="-2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has</a:t>
            </a:r>
            <a:r>
              <a:rPr sz="1100" b="0" spc="-15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reshaped</a:t>
            </a:r>
            <a:r>
              <a:rPr sz="1100" b="0" spc="-2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financial</a:t>
            </a:r>
            <a:r>
              <a:rPr sz="1100" b="0" spc="-3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behaviour</a:t>
            </a:r>
            <a:r>
              <a:rPr sz="1100" b="0" spc="-10" dirty="0">
                <a:latin typeface="Calibri Light"/>
                <a:cs typeface="Calibri Light"/>
              </a:rPr>
              <a:t> </a:t>
            </a:r>
            <a:r>
              <a:rPr sz="1100" b="0" dirty="0">
                <a:latin typeface="Calibri Light"/>
                <a:cs typeface="Calibri Light"/>
              </a:rPr>
              <a:t>across</a:t>
            </a:r>
            <a:r>
              <a:rPr sz="1100" b="0" spc="-15" dirty="0">
                <a:latin typeface="Calibri Light"/>
                <a:cs typeface="Calibri Light"/>
              </a:rPr>
              <a:t> </a:t>
            </a:r>
            <a:r>
              <a:rPr sz="1100" b="0" spc="-10" dirty="0">
                <a:latin typeface="Calibri Light"/>
                <a:cs typeface="Calibri Light"/>
              </a:rPr>
              <a:t>India.</a:t>
            </a:r>
            <a:endParaRPr sz="1100">
              <a:latin typeface="Calibri Light"/>
              <a:cs typeface="Calibri Light"/>
            </a:endParaRPr>
          </a:p>
          <a:p>
            <a:pPr marL="12700" marR="53340">
              <a:lnSpc>
                <a:spcPts val="126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cleaning,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dashboard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visualization,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reveals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evolved </a:t>
            </a:r>
            <a:r>
              <a:rPr sz="1100" dirty="0">
                <a:latin typeface="Times New Roman"/>
                <a:cs typeface="Times New Roman"/>
              </a:rPr>
              <a:t>from 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payment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lifestyle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essential.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Widespread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Adoption:</a:t>
            </a:r>
            <a:endParaRPr sz="1200">
              <a:latin typeface="Calibri Light"/>
              <a:cs typeface="Calibri Light"/>
            </a:endParaRPr>
          </a:p>
          <a:p>
            <a:pPr marL="469900" marR="315595" lvl="1" indent="-229235">
              <a:lnSpc>
                <a:spcPts val="1270"/>
              </a:lnSpc>
              <a:spcBef>
                <a:spcPts val="85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93%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respondents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actively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UPI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confirming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digital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payments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acceptance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India’s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working</a:t>
            </a:r>
            <a:r>
              <a:rPr sz="1100" spc="-10" dirty="0">
                <a:latin typeface="Times New Roman"/>
                <a:cs typeface="Times New Roman"/>
              </a:rPr>
              <a:t> population.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05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reflects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national initiatives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Digital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India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BHIM-</a:t>
            </a:r>
            <a:r>
              <a:rPr sz="1100" b="1" dirty="0">
                <a:latin typeface="Times New Roman"/>
                <a:cs typeface="Times New Roman"/>
              </a:rPr>
              <a:t>UPI</a:t>
            </a:r>
            <a:r>
              <a:rPr sz="1100" dirty="0">
                <a:latin typeface="Times New Roman"/>
                <a:cs typeface="Times New Roman"/>
              </a:rPr>
              <a:t>, which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-10" dirty="0">
                <a:latin typeface="Times New Roman"/>
                <a:cs typeface="Times New Roman"/>
              </a:rPr>
              <a:t> driven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65"/>
              </a:lnSpc>
            </a:pPr>
            <a:r>
              <a:rPr sz="1100" dirty="0">
                <a:latin typeface="Times New Roman"/>
                <a:cs typeface="Times New Roman"/>
              </a:rPr>
              <a:t>inclusion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trust 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digital </a:t>
            </a:r>
            <a:r>
              <a:rPr sz="1100" spc="-10" dirty="0">
                <a:latin typeface="Times New Roman"/>
                <a:cs typeface="Times New Roman"/>
              </a:rPr>
              <a:t>finance.</a:t>
            </a:r>
            <a:endParaRPr sz="1100">
              <a:latin typeface="Times New Roman"/>
              <a:cs typeface="Times New Roman"/>
            </a:endParaRPr>
          </a:p>
          <a:p>
            <a:pPr marL="469900" marR="198755" lvl="1" indent="-229235">
              <a:lnSpc>
                <a:spcPts val="1260"/>
              </a:lnSpc>
              <a:spcBef>
                <a:spcPts val="65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Cash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dependency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drastically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respondents,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indicating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steady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normalization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digital transactions.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Dominant</a:t>
            </a:r>
            <a:r>
              <a:rPr sz="12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Applications:</a:t>
            </a:r>
            <a:endParaRPr sz="1200">
              <a:latin typeface="Calibri Light"/>
              <a:cs typeface="Calibri Light"/>
            </a:endParaRPr>
          </a:p>
          <a:p>
            <a:pPr marL="469900" marR="100965" lvl="1" indent="-229235">
              <a:lnSpc>
                <a:spcPts val="126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Google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Pay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(46%)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PhonePe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(32%)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together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represent nearly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four-</a:t>
            </a:r>
            <a:r>
              <a:rPr sz="1100" b="1" dirty="0">
                <a:latin typeface="Times New Roman"/>
                <a:cs typeface="Times New Roman"/>
              </a:rPr>
              <a:t>fifths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total users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strong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confidence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app-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-10" dirty="0">
                <a:latin typeface="Times New Roman"/>
                <a:cs typeface="Times New Roman"/>
              </a:rPr>
              <a:t> loyalty.</a:t>
            </a:r>
            <a:endParaRPr sz="1100">
              <a:latin typeface="Times New Roman"/>
              <a:cs typeface="Times New Roman"/>
            </a:endParaRPr>
          </a:p>
          <a:p>
            <a:pPr marL="469900" marR="426720" lvl="1" indent="-229235">
              <a:lnSpc>
                <a:spcPts val="1260"/>
              </a:lnSpc>
              <a:spcBef>
                <a:spcPts val="15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Paytm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(15%)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wallet 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recharge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utilities,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Others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(7%) </a:t>
            </a:r>
            <a:r>
              <a:rPr sz="1100" dirty="0">
                <a:latin typeface="Times New Roman"/>
                <a:cs typeface="Times New Roman"/>
              </a:rPr>
              <a:t>show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niche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yet 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adoption.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05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preference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 simplicity,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reliability,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cashback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rewards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motivators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selection</a:t>
            </a:r>
            <a:r>
              <a:rPr sz="800" spc="-10" dirty="0">
                <a:latin typeface="Times New Roman"/>
                <a:cs typeface="Times New Roman"/>
              </a:rPr>
              <a:t>.</a:t>
            </a: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 startAt="3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as a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Daily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Financial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Habit:</a:t>
            </a:r>
            <a:endParaRPr sz="1200">
              <a:latin typeface="Calibri Light"/>
              <a:cs typeface="Calibri Light"/>
            </a:endParaRPr>
          </a:p>
          <a:p>
            <a:pPr marL="469900" marR="339725" lvl="1" indent="-229235">
              <a:lnSpc>
                <a:spcPts val="1270"/>
              </a:lnSpc>
              <a:spcBef>
                <a:spcPts val="9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42%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users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make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daily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payments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38%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transact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weekly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UPI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natural </a:t>
            </a:r>
            <a:r>
              <a:rPr sz="1100" dirty="0">
                <a:latin typeface="Times New Roman"/>
                <a:cs typeface="Times New Roman"/>
              </a:rPr>
              <a:t>extension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everyday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spending.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00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Regular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transactions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food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orders,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transport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fares,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mobile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recharges,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educational</a:t>
            </a:r>
            <a:r>
              <a:rPr sz="1100" b="1" spc="-10" dirty="0">
                <a:latin typeface="Times New Roman"/>
                <a:cs typeface="Times New Roman"/>
              </a:rPr>
              <a:t> payments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90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frequency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pattern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 UPI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longer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viewed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alternative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cash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new </a:t>
            </a:r>
            <a:r>
              <a:rPr sz="1100" b="1" spc="-10" dirty="0">
                <a:latin typeface="Times New Roman"/>
                <a:cs typeface="Times New Roman"/>
              </a:rPr>
              <a:t>cash.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61925" indent="-149225">
              <a:lnSpc>
                <a:spcPct val="100000"/>
              </a:lnSpc>
              <a:buAutoNum type="arabicPeriod" startAt="3"/>
              <a:tabLst>
                <a:tab pos="16192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Behavioral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Demographic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Patterns:</a:t>
            </a:r>
            <a:endParaRPr sz="1200">
              <a:latin typeface="Calibri Light"/>
              <a:cs typeface="Calibri Light"/>
            </a:endParaRPr>
          </a:p>
          <a:p>
            <a:pPr marL="469900" marR="187325" lvl="1" indent="-229235">
              <a:lnSpc>
                <a:spcPts val="1260"/>
              </a:lnSpc>
              <a:spcBef>
                <a:spcPts val="95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18–</a:t>
            </a:r>
            <a:r>
              <a:rPr sz="1100" b="1" dirty="0">
                <a:latin typeface="Times New Roman"/>
                <a:cs typeface="Times New Roman"/>
              </a:rPr>
              <a:t>25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age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group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highest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engagement, showcasing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tech-driven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mindset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fintech.</a:t>
            </a:r>
            <a:endParaRPr sz="1100">
              <a:latin typeface="Times New Roman"/>
              <a:cs typeface="Times New Roman"/>
            </a:endParaRPr>
          </a:p>
          <a:p>
            <a:pPr marL="469900" marR="372745" lvl="1" indent="-229235">
              <a:lnSpc>
                <a:spcPts val="1260"/>
              </a:lnSpc>
              <a:spcBef>
                <a:spcPts val="15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Usage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trends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balance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Peer-to-</a:t>
            </a:r>
            <a:r>
              <a:rPr sz="1100" b="1" dirty="0">
                <a:latin typeface="Times New Roman"/>
                <a:cs typeface="Times New Roman"/>
              </a:rPr>
              <a:t>Peer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transfers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(30%)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Shopping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&amp;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Food</a:t>
            </a:r>
            <a:r>
              <a:rPr sz="1100" b="1" spc="-10" dirty="0">
                <a:latin typeface="Times New Roman"/>
                <a:cs typeface="Times New Roman"/>
              </a:rPr>
              <a:t> payments </a:t>
            </a:r>
            <a:r>
              <a:rPr sz="1100" b="1" dirty="0">
                <a:latin typeface="Times New Roman"/>
                <a:cs typeface="Times New Roman"/>
              </a:rPr>
              <a:t>(35%)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practicality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social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convenience.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30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Respondents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cited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instant confirmations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cashback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engagement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drivers.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 startAt="3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Security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User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Trust:</a:t>
            </a:r>
            <a:endParaRPr sz="1200">
              <a:latin typeface="Calibri Light"/>
              <a:cs typeface="Calibri Light"/>
            </a:endParaRPr>
          </a:p>
          <a:p>
            <a:pPr marL="469900" marR="388620" lvl="1" indent="-229235">
              <a:lnSpc>
                <a:spcPts val="126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83%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respondents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reported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smooth,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secure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experiences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UPI’s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reliability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regulatory safeguards.</a:t>
            </a:r>
            <a:endParaRPr sz="1100">
              <a:latin typeface="Times New Roman"/>
              <a:cs typeface="Times New Roman"/>
            </a:endParaRPr>
          </a:p>
          <a:p>
            <a:pPr marL="469900" marR="5080" lvl="1" indent="-229235">
              <a:lnSpc>
                <a:spcPts val="1260"/>
              </a:lnSpc>
              <a:spcBef>
                <a:spcPts val="1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b="1" dirty="0">
                <a:latin typeface="Times New Roman"/>
                <a:cs typeface="Times New Roman"/>
              </a:rPr>
              <a:t>17% faced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minor issues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 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payment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 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 timeouts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-10" dirty="0">
                <a:latin typeface="Times New Roman"/>
                <a:cs typeface="Times New Roman"/>
              </a:rPr>
              <a:t> network-</a:t>
            </a:r>
            <a:r>
              <a:rPr sz="1100" dirty="0">
                <a:latin typeface="Times New Roman"/>
                <a:cs typeface="Times New Roman"/>
              </a:rPr>
              <a:t>related rather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-10" dirty="0">
                <a:latin typeface="Times New Roman"/>
                <a:cs typeface="Times New Roman"/>
              </a:rPr>
              <a:t> system flaws.</a:t>
            </a:r>
            <a:endParaRPr sz="11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205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Respondents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acknowledged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effectiveness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OTP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verification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real-</a:t>
            </a:r>
            <a:r>
              <a:rPr sz="1100" b="1" dirty="0">
                <a:latin typeface="Times New Roman"/>
                <a:cs typeface="Times New Roman"/>
              </a:rPr>
              <a:t>time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tracking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in-</a:t>
            </a:r>
            <a:r>
              <a:rPr sz="1100" b="1" dirty="0">
                <a:latin typeface="Times New Roman"/>
                <a:cs typeface="Times New Roman"/>
              </a:rPr>
              <a:t>app</a:t>
            </a:r>
            <a:r>
              <a:rPr sz="1100" b="1" spc="-10" dirty="0">
                <a:latin typeface="Times New Roman"/>
                <a:cs typeface="Times New Roman"/>
              </a:rPr>
              <a:t> fraud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ts val="1295"/>
              </a:lnSpc>
            </a:pPr>
            <a:r>
              <a:rPr sz="1100" b="1" dirty="0">
                <a:latin typeface="Times New Roman"/>
                <a:cs typeface="Times New Roman"/>
              </a:rPr>
              <a:t>alerts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reflecting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financial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awareness.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0" spc="-290" dirty="0">
                <a:solidFill>
                  <a:srgbClr val="1F3762"/>
                </a:solidFill>
                <a:latin typeface="Calibri Light"/>
                <a:cs typeface="Calibri Light"/>
              </a:rPr>
              <a:t>6️.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 Broader</a:t>
            </a:r>
            <a:r>
              <a:rPr sz="1200" b="0" spc="-4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Impact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on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India’s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Cashless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Economy:</a:t>
            </a:r>
            <a:endParaRPr sz="1200">
              <a:latin typeface="Calibri Light"/>
              <a:cs typeface="Calibri Light"/>
            </a:endParaRPr>
          </a:p>
          <a:p>
            <a:pPr marL="469900" marR="186055" lvl="1" indent="-229235">
              <a:lnSpc>
                <a:spcPts val="1270"/>
              </a:lnSpc>
              <a:spcBef>
                <a:spcPts val="9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findings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establish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critical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catalyst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India’s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cashless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transition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strengthening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financial </a:t>
            </a:r>
            <a:r>
              <a:rPr sz="1100" dirty="0">
                <a:latin typeface="Times New Roman"/>
                <a:cs typeface="Times New Roman"/>
              </a:rPr>
              <a:t>inclusion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transparency.</a:t>
            </a:r>
            <a:endParaRPr sz="1100">
              <a:latin typeface="Times New Roman"/>
              <a:cs typeface="Times New Roman"/>
            </a:endParaRPr>
          </a:p>
          <a:p>
            <a:pPr marL="469900" marR="43815" lvl="1" indent="-229235">
              <a:lnSpc>
                <a:spcPts val="1260"/>
              </a:lnSpc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spc="-10" dirty="0">
                <a:latin typeface="Times New Roman"/>
                <a:cs typeface="Times New Roman"/>
              </a:rPr>
              <a:t>Youth-</a:t>
            </a:r>
            <a:r>
              <a:rPr sz="1100" dirty="0">
                <a:latin typeface="Times New Roman"/>
                <a:cs typeface="Times New Roman"/>
              </a:rPr>
              <a:t>driven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adoption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contributes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</a:t>
            </a:r>
            <a:r>
              <a:rPr sz="1100" b="1" dirty="0">
                <a:latin typeface="Times New Roman"/>
                <a:cs typeface="Times New Roman"/>
              </a:rPr>
              <a:t>digital economy’s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scalability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empowering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consumers </a:t>
            </a:r>
            <a:r>
              <a:rPr sz="1100" dirty="0">
                <a:latin typeface="Times New Roman"/>
                <a:cs typeface="Times New Roman"/>
              </a:rPr>
              <a:t>and small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businesses.</a:t>
            </a:r>
            <a:endParaRPr sz="1100">
              <a:latin typeface="Times New Roman"/>
              <a:cs typeface="Times New Roman"/>
            </a:endParaRPr>
          </a:p>
          <a:p>
            <a:pPr marL="469900" marR="464184" lvl="1" indent="-229235">
              <a:lnSpc>
                <a:spcPts val="1260"/>
              </a:lnSpc>
              <a:spcBef>
                <a:spcPts val="10"/>
              </a:spcBef>
              <a:buSzPct val="90909"/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UPI’s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symbolizes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India’s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capability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blend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innovation,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policy,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accessibility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inclusive </a:t>
            </a:r>
            <a:r>
              <a:rPr sz="1100" dirty="0">
                <a:latin typeface="Times New Roman"/>
                <a:cs typeface="Times New Roman"/>
              </a:rPr>
              <a:t>economic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growth.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260"/>
              </a:spcBef>
            </a:pPr>
            <a:r>
              <a:rPr sz="1200" b="1" dirty="0">
                <a:solidFill>
                  <a:srgbClr val="2E5395"/>
                </a:solidFill>
                <a:latin typeface="Times New Roman"/>
                <a:cs typeface="Times New Roman"/>
              </a:rPr>
              <a:t>Summary</a:t>
            </a:r>
            <a:r>
              <a:rPr sz="1200" b="1" spc="-4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2E5395"/>
                </a:solidFill>
                <a:latin typeface="Times New Roman"/>
                <a:cs typeface="Times New Roman"/>
              </a:rPr>
              <a:t>Statement: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60"/>
              </a:lnSpc>
            </a:pPr>
            <a:r>
              <a:rPr sz="1100" dirty="0">
                <a:latin typeface="Times New Roman"/>
                <a:cs typeface="Times New Roman"/>
              </a:rPr>
              <a:t>UPI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transcended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payment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gateway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symbol of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India’s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digital </a:t>
            </a:r>
            <a:r>
              <a:rPr sz="1100" b="1" spc="-10" dirty="0">
                <a:latin typeface="Times New Roman"/>
                <a:cs typeface="Times New Roman"/>
              </a:rPr>
              <a:t>empowerment.</a:t>
            </a:r>
            <a:endParaRPr sz="1100">
              <a:latin typeface="Times New Roman"/>
              <a:cs typeface="Times New Roman"/>
            </a:endParaRPr>
          </a:p>
          <a:p>
            <a:pPr marL="12700" marR="47625">
              <a:lnSpc>
                <a:spcPts val="1260"/>
              </a:lnSpc>
              <a:spcBef>
                <a:spcPts val="65"/>
              </a:spcBef>
            </a:pP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daily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transactions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fintech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innovation,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data-</a:t>
            </a:r>
            <a:r>
              <a:rPr sz="1100" dirty="0">
                <a:latin typeface="Times New Roman"/>
                <a:cs typeface="Times New Roman"/>
              </a:rPr>
              <a:t>driven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adoption can reshape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national </a:t>
            </a:r>
            <a:r>
              <a:rPr sz="1100" dirty="0">
                <a:latin typeface="Times New Roman"/>
                <a:cs typeface="Times New Roman"/>
              </a:rPr>
              <a:t>financial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behavior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sustainable,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cashless </a:t>
            </a:r>
            <a:r>
              <a:rPr sz="1100" spc="-10" dirty="0">
                <a:latin typeface="Times New Roman"/>
                <a:cs typeface="Times New Roman"/>
              </a:rPr>
              <a:t>economy.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57200" y="9987991"/>
            <a:ext cx="6647815" cy="21590"/>
            <a:chOff x="457200" y="9987991"/>
            <a:chExt cx="6647815" cy="21590"/>
          </a:xfrm>
        </p:grpSpPr>
        <p:sp>
          <p:nvSpPr>
            <p:cNvPr id="53" name="object 53"/>
            <p:cNvSpPr/>
            <p:nvPr/>
          </p:nvSpPr>
          <p:spPr>
            <a:xfrm>
              <a:off x="457200" y="9988003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558"/>
                  </a:moveTo>
                  <a:lnTo>
                    <a:pt x="6644386" y="558"/>
                  </a:ln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558"/>
                  </a:lnTo>
                  <a:lnTo>
                    <a:pt x="0" y="3035"/>
                  </a:lnTo>
                  <a:lnTo>
                    <a:pt x="0" y="20231"/>
                  </a:lnTo>
                  <a:lnTo>
                    <a:pt x="6645910" y="20231"/>
                  </a:lnTo>
                  <a:lnTo>
                    <a:pt x="6645910" y="558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101585" y="998799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57200" y="9988003"/>
              <a:ext cx="6647815" cy="18415"/>
            </a:xfrm>
            <a:custGeom>
              <a:avLst/>
              <a:gdLst/>
              <a:ahLst/>
              <a:cxnLst/>
              <a:rect l="l" t="t" r="r" b="b"/>
              <a:pathLst>
                <a:path w="6647815" h="18415">
                  <a:moveTo>
                    <a:pt x="3048" y="3035"/>
                  </a:moveTo>
                  <a:lnTo>
                    <a:pt x="0" y="3035"/>
                  </a:lnTo>
                  <a:lnTo>
                    <a:pt x="0" y="18275"/>
                  </a:lnTo>
                  <a:lnTo>
                    <a:pt x="3048" y="18275"/>
                  </a:lnTo>
                  <a:lnTo>
                    <a:pt x="3048" y="3035"/>
                  </a:lnTo>
                  <a:close/>
                </a:path>
                <a:path w="6647815" h="1841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101585" y="9991038"/>
              <a:ext cx="3175" cy="15240"/>
            </a:xfrm>
            <a:custGeom>
              <a:avLst/>
              <a:gdLst/>
              <a:ahLst/>
              <a:cxnLst/>
              <a:rect l="l" t="t" r="r" b="b"/>
              <a:pathLst>
                <a:path w="3175" h="15240">
                  <a:moveTo>
                    <a:pt x="3047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047" y="15240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57200" y="1000627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7200" y="1000629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707133"/>
            <a:ext cx="6647815" cy="21590"/>
            <a:chOff x="457200" y="1707133"/>
            <a:chExt cx="6647815" cy="21590"/>
          </a:xfrm>
        </p:grpSpPr>
        <p:sp>
          <p:nvSpPr>
            <p:cNvPr id="3" name="object 3"/>
            <p:cNvSpPr/>
            <p:nvPr/>
          </p:nvSpPr>
          <p:spPr>
            <a:xfrm>
              <a:off x="457200" y="1707133"/>
              <a:ext cx="6645909" cy="21590"/>
            </a:xfrm>
            <a:custGeom>
              <a:avLst/>
              <a:gdLst/>
              <a:ahLst/>
              <a:cxnLst/>
              <a:rect l="l" t="t" r="r" b="b"/>
              <a:pathLst>
                <a:path w="6645909" h="21589">
                  <a:moveTo>
                    <a:pt x="6645910" y="1016"/>
                  </a:moveTo>
                  <a:lnTo>
                    <a:pt x="6644386" y="1016"/>
                  </a:ln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1016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6645910" y="21336"/>
                  </a:lnTo>
                  <a:lnTo>
                    <a:pt x="6645910" y="1016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170713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707133"/>
              <a:ext cx="6647815" cy="18415"/>
            </a:xfrm>
            <a:custGeom>
              <a:avLst/>
              <a:gdLst/>
              <a:ahLst/>
              <a:cxnLst/>
              <a:rect l="l" t="t" r="r" b="b"/>
              <a:pathLst>
                <a:path w="6647815" h="18414">
                  <a:moveTo>
                    <a:pt x="3048" y="3048"/>
                  </a:moveTo>
                  <a:lnTo>
                    <a:pt x="0" y="3048"/>
                  </a:lnTo>
                  <a:lnTo>
                    <a:pt x="0" y="18288"/>
                  </a:lnTo>
                  <a:lnTo>
                    <a:pt x="3048" y="18288"/>
                  </a:lnTo>
                  <a:lnTo>
                    <a:pt x="3048" y="3048"/>
                  </a:lnTo>
                  <a:close/>
                </a:path>
                <a:path w="6647815" h="1841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1710181"/>
              <a:ext cx="3175" cy="15240"/>
            </a:xfrm>
            <a:custGeom>
              <a:avLst/>
              <a:gdLst/>
              <a:ahLst/>
              <a:cxnLst/>
              <a:rect l="l" t="t" r="r" b="b"/>
              <a:pathLst>
                <a:path w="3175" h="15239">
                  <a:moveTo>
                    <a:pt x="3047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3047" y="15240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72542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72542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435355"/>
            <a:ext cx="6116320" cy="1513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Benefits</a:t>
            </a:r>
            <a:r>
              <a:rPr sz="1600" b="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Challenges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of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UPI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Adoption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balanced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advantages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limitations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Unified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Payments </a:t>
            </a:r>
            <a:r>
              <a:rPr sz="1200" dirty="0">
                <a:latin typeface="Times New Roman"/>
                <a:cs typeface="Times New Roman"/>
              </a:rPr>
              <a:t>Interface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(UPI)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feedback,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insights.</a:t>
            </a:r>
            <a:endParaRPr sz="1200">
              <a:latin typeface="Times New Roman"/>
              <a:cs typeface="Times New Roman"/>
            </a:endParaRPr>
          </a:p>
          <a:p>
            <a:pPr marL="12700" marR="13906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transformational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impact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financial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behavior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operational </a:t>
            </a:r>
            <a:r>
              <a:rPr sz="1200" b="1" dirty="0">
                <a:latin typeface="Times New Roman"/>
                <a:cs typeface="Times New Roman"/>
              </a:rPr>
              <a:t>challenges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sustainable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growth.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1.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Key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Benefits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of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UPI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Adoption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6419" y="2187294"/>
            <a:ext cx="1339850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6405">
              <a:lnSpc>
                <a:spcPct val="1245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Benefit </a:t>
            </a:r>
            <a:r>
              <a:rPr sz="1100" b="1" dirty="0">
                <a:latin typeface="Calibri"/>
                <a:cs typeface="Calibri"/>
              </a:rPr>
              <a:t>Convenience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Instant</a:t>
            </a:r>
            <a:endParaRPr sz="1100">
              <a:latin typeface="Calibri"/>
              <a:cs typeface="Calibri"/>
            </a:endParaRPr>
          </a:p>
          <a:p>
            <a:pPr marL="401320">
              <a:lnSpc>
                <a:spcPct val="100000"/>
              </a:lnSpc>
              <a:spcBef>
                <a:spcPts val="20"/>
              </a:spcBef>
            </a:pPr>
            <a:r>
              <a:rPr sz="1100" b="1" spc="-10" dirty="0">
                <a:latin typeface="Calibri"/>
                <a:cs typeface="Calibri"/>
              </a:rPr>
              <a:t>Transfers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6872" y="2227833"/>
            <a:ext cx="12293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Insight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/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Explanation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3826" y="2521966"/>
            <a:ext cx="47739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Enables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24×7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real-</a:t>
            </a:r>
            <a:r>
              <a:rPr sz="1100" dirty="0">
                <a:latin typeface="Calibri"/>
                <a:cs typeface="Calibri"/>
              </a:rPr>
              <a:t>time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transfers,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reducing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dependency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ATMs.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1472" y="2899918"/>
            <a:ext cx="12731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Universal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Acceptance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35810" y="2814573"/>
            <a:ext cx="5027930" cy="15036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78105" marR="69850" algn="ctr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Accepted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merchants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vendors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e-</a:t>
            </a:r>
            <a:r>
              <a:rPr sz="1100" dirty="0">
                <a:latin typeface="Calibri"/>
                <a:cs typeface="Calibri"/>
              </a:rPr>
              <a:t>commerce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giants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establishing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unified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national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payment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network.</a:t>
            </a:r>
            <a:endParaRPr sz="1100">
              <a:latin typeface="Calibri"/>
              <a:cs typeface="Calibri"/>
            </a:endParaRPr>
          </a:p>
          <a:p>
            <a:pPr marL="68580" marR="61594" algn="ctr">
              <a:lnSpc>
                <a:spcPct val="1018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Apps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Google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PhonePe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drive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engagement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through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loyalty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programs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cashback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campaigns.</a:t>
            </a:r>
            <a:endParaRPr sz="1100">
              <a:latin typeface="Calibri"/>
              <a:cs typeface="Calibri"/>
            </a:endParaRPr>
          </a:p>
          <a:p>
            <a:pPr marL="12065" marR="5080" algn="ctr">
              <a:lnSpc>
                <a:spcPct val="1018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OTP-based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authentication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digital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records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ensure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trust,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traceability,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fraud prevention.</a:t>
            </a:r>
            <a:endParaRPr sz="1100">
              <a:latin typeface="Calibri"/>
              <a:cs typeface="Calibri"/>
            </a:endParaRPr>
          </a:p>
          <a:p>
            <a:pPr marL="186055" marR="175895" algn="ctr">
              <a:lnSpc>
                <a:spcPct val="1018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Brings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small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vendors,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students, and</a:t>
            </a:r>
            <a:r>
              <a:rPr sz="1100" spc="-10" dirty="0">
                <a:latin typeface="Calibri"/>
                <a:cs typeface="Calibri"/>
              </a:rPr>
              <a:t> semi-</a:t>
            </a:r>
            <a:r>
              <a:rPr sz="1100" dirty="0">
                <a:latin typeface="Calibri"/>
                <a:cs typeface="Calibri"/>
              </a:rPr>
              <a:t>urban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populations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into 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formal</a:t>
            </a:r>
            <a:r>
              <a:rPr sz="1100" spc="-10" dirty="0">
                <a:latin typeface="Calibri"/>
                <a:cs typeface="Calibri"/>
              </a:rPr>
              <a:t> digital </a:t>
            </a:r>
            <a:r>
              <a:rPr sz="1100" dirty="0">
                <a:latin typeface="Calibri"/>
                <a:cs typeface="Calibri"/>
              </a:rPr>
              <a:t>economy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supporting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Digital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India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objectives.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372" y="3194431"/>
            <a:ext cx="1344295" cy="7442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8580" marR="59690" algn="ctr">
              <a:lnSpc>
                <a:spcPct val="101800"/>
              </a:lnSpc>
              <a:spcBef>
                <a:spcPts val="80"/>
              </a:spcBef>
            </a:pPr>
            <a:r>
              <a:rPr sz="1100" b="1" dirty="0">
                <a:latin typeface="Calibri"/>
                <a:cs typeface="Calibri"/>
              </a:rPr>
              <a:t>Cashback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Rewards Ecosystem</a:t>
            </a:r>
            <a:endParaRPr sz="1100">
              <a:latin typeface="Calibri"/>
              <a:cs typeface="Calibri"/>
            </a:endParaRPr>
          </a:p>
          <a:p>
            <a:pPr marL="12065" marR="5080" algn="ctr">
              <a:lnSpc>
                <a:spcPct val="101800"/>
              </a:lnSpc>
              <a:spcBef>
                <a:spcPts val="300"/>
              </a:spcBef>
            </a:pPr>
            <a:r>
              <a:rPr sz="1100" b="1" dirty="0">
                <a:latin typeface="Calibri"/>
                <a:cs typeface="Calibri"/>
              </a:rPr>
              <a:t>Transparency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&amp;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Digital Security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1387" y="4038726"/>
            <a:ext cx="10909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Financial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Inclusion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" y="4723129"/>
            <a:ext cx="6647815" cy="20320"/>
            <a:chOff x="457200" y="4723129"/>
            <a:chExt cx="6647815" cy="20320"/>
          </a:xfrm>
        </p:grpSpPr>
        <p:sp>
          <p:nvSpPr>
            <p:cNvPr id="18" name="object 18"/>
            <p:cNvSpPr/>
            <p:nvPr/>
          </p:nvSpPr>
          <p:spPr>
            <a:xfrm>
              <a:off x="457200" y="472312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393"/>
                  </a:lnTo>
                  <a:lnTo>
                    <a:pt x="0" y="3429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01585" y="472351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200" y="4723523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01585" y="472655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474027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474028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44500" y="4319142"/>
            <a:ext cx="6562090" cy="6457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b="1" dirty="0">
                <a:latin typeface="Times New Roman"/>
                <a:cs typeface="Times New Roman"/>
              </a:rPr>
              <a:t>UPI’s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simplicity,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speed,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reliability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redefined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empowering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millions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shift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cash-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effortlessly.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2.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Major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Challenges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Identified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2912" y="5201894"/>
            <a:ext cx="1066800" cy="443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6220">
              <a:lnSpc>
                <a:spcPct val="1247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Challenge </a:t>
            </a:r>
            <a:r>
              <a:rPr sz="1100" b="1" dirty="0">
                <a:latin typeface="Calibri"/>
                <a:cs typeface="Calibri"/>
              </a:rPr>
              <a:t>Technical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Glitches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15998" y="5201894"/>
            <a:ext cx="5044440" cy="14097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25"/>
              </a:spcBef>
            </a:pPr>
            <a:r>
              <a:rPr sz="1100" b="1" spc="-10" dirty="0">
                <a:latin typeface="Calibri"/>
                <a:cs typeface="Calibri"/>
              </a:rPr>
              <a:t>Description </a:t>
            </a:r>
            <a:r>
              <a:rPr sz="1100" b="1" dirty="0">
                <a:latin typeface="Calibri"/>
                <a:cs typeface="Calibri"/>
              </a:rPr>
              <a:t>/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Analytical </a:t>
            </a:r>
            <a:r>
              <a:rPr sz="1100" b="1" spc="-10" dirty="0">
                <a:latin typeface="Calibri"/>
                <a:cs typeface="Calibri"/>
              </a:rPr>
              <a:t>Observation</a:t>
            </a:r>
            <a:endParaRPr sz="11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325"/>
              </a:spcBef>
            </a:pP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occasionally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face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failed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delayed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transactions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high-traffic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hours.</a:t>
            </a:r>
            <a:endParaRPr sz="1100">
              <a:latin typeface="Calibri"/>
              <a:cs typeface="Calibri"/>
            </a:endParaRPr>
          </a:p>
          <a:p>
            <a:pPr marL="12700" marR="5080" algn="ctr">
              <a:lnSpc>
                <a:spcPct val="1018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17%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respondents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admitted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limited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awareness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phishing,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fraud,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fake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payment links.</a:t>
            </a:r>
            <a:endParaRPr sz="11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310"/>
              </a:spcBef>
            </a:pPr>
            <a:r>
              <a:rPr sz="1100" dirty="0">
                <a:latin typeface="Calibri"/>
                <a:cs typeface="Calibri"/>
              </a:rPr>
              <a:t>Rural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face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payment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disruptions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weak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internet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connectivity.</a:t>
            </a:r>
            <a:endParaRPr sz="1100">
              <a:latin typeface="Calibri"/>
              <a:cs typeface="Calibri"/>
            </a:endParaRPr>
          </a:p>
          <a:p>
            <a:pPr marL="24765" marR="15875" algn="ctr">
              <a:lnSpc>
                <a:spcPct val="1018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Heavy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digital </a:t>
            </a:r>
            <a:r>
              <a:rPr sz="1100" spc="-10" dirty="0">
                <a:latin typeface="Calibri"/>
                <a:cs typeface="Calibri"/>
              </a:rPr>
              <a:t>dependence </a:t>
            </a:r>
            <a:r>
              <a:rPr sz="1100" dirty="0">
                <a:latin typeface="Calibri"/>
                <a:cs typeface="Calibri"/>
              </a:rPr>
              <a:t>may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lead 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vulnerability 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technical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outages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 </a:t>
            </a:r>
            <a:r>
              <a:rPr sz="1100" spc="-10" dirty="0">
                <a:latin typeface="Calibri"/>
                <a:cs typeface="Calibri"/>
              </a:rPr>
              <a:t>cyber risks.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4604" y="5745860"/>
            <a:ext cx="14255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Security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Awareness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Gap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6419" y="5997930"/>
            <a:ext cx="1321435" cy="9931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100" b="1" dirty="0">
                <a:latin typeface="Calibri"/>
                <a:cs typeface="Calibri"/>
              </a:rPr>
              <a:t>Network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Dependency</a:t>
            </a:r>
            <a:endParaRPr sz="1100">
              <a:latin typeface="Calibri"/>
              <a:cs typeface="Calibri"/>
            </a:endParaRPr>
          </a:p>
          <a:p>
            <a:pPr marL="12065" marR="5080" algn="ctr">
              <a:lnSpc>
                <a:spcPct val="101800"/>
              </a:lnSpc>
              <a:spcBef>
                <a:spcPts val="300"/>
              </a:spcBef>
            </a:pPr>
            <a:r>
              <a:rPr sz="1100" b="1" dirty="0">
                <a:latin typeface="Calibri"/>
                <a:cs typeface="Calibri"/>
              </a:rPr>
              <a:t>User </a:t>
            </a:r>
            <a:r>
              <a:rPr sz="1100" b="1" spc="-10" dirty="0">
                <a:latin typeface="Calibri"/>
                <a:cs typeface="Calibri"/>
              </a:rPr>
              <a:t>Over-</a:t>
            </a:r>
            <a:r>
              <a:rPr sz="1100" b="1" dirty="0">
                <a:latin typeface="Calibri"/>
                <a:cs typeface="Calibri"/>
              </a:rPr>
              <a:t>Reliance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on UPI</a:t>
            </a:r>
            <a:endParaRPr sz="1100">
              <a:latin typeface="Calibri"/>
              <a:cs typeface="Calibri"/>
            </a:endParaRPr>
          </a:p>
          <a:p>
            <a:pPr marL="172720" marR="164465" algn="ctr">
              <a:lnSpc>
                <a:spcPct val="101800"/>
              </a:lnSpc>
              <a:spcBef>
                <a:spcPts val="300"/>
              </a:spcBef>
            </a:pPr>
            <a:r>
              <a:rPr sz="1100" b="1" dirty="0">
                <a:latin typeface="Calibri"/>
                <a:cs typeface="Calibri"/>
              </a:rPr>
              <a:t>Inconsistent</a:t>
            </a:r>
            <a:r>
              <a:rPr sz="1100" b="1" spc="-55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App </a:t>
            </a:r>
            <a:r>
              <a:rPr sz="1100" b="1" spc="-10" dirty="0">
                <a:latin typeface="Calibri"/>
                <a:cs typeface="Calibri"/>
              </a:rPr>
              <a:t>Features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28189" y="6712077"/>
            <a:ext cx="502475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Lack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uniform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experience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platforms -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e.g.,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cashback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systems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UI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differences.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7200" y="7396860"/>
            <a:ext cx="6647815" cy="21590"/>
            <a:chOff x="457200" y="7396860"/>
            <a:chExt cx="6647815" cy="21590"/>
          </a:xfrm>
        </p:grpSpPr>
        <p:sp>
          <p:nvSpPr>
            <p:cNvPr id="31" name="object 31"/>
            <p:cNvSpPr/>
            <p:nvPr/>
          </p:nvSpPr>
          <p:spPr>
            <a:xfrm>
              <a:off x="457200" y="7396873"/>
              <a:ext cx="6645909" cy="20955"/>
            </a:xfrm>
            <a:custGeom>
              <a:avLst/>
              <a:gdLst/>
              <a:ahLst/>
              <a:cxnLst/>
              <a:rect l="l" t="t" r="r" b="b"/>
              <a:pathLst>
                <a:path w="6645909" h="20954">
                  <a:moveTo>
                    <a:pt x="6645910" y="876"/>
                  </a:moveTo>
                  <a:lnTo>
                    <a:pt x="6644386" y="876"/>
                  </a:ln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876"/>
                  </a:lnTo>
                  <a:lnTo>
                    <a:pt x="0" y="3035"/>
                  </a:lnTo>
                  <a:lnTo>
                    <a:pt x="0" y="20561"/>
                  </a:lnTo>
                  <a:lnTo>
                    <a:pt x="6645910" y="20561"/>
                  </a:lnTo>
                  <a:lnTo>
                    <a:pt x="6645910" y="876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01585" y="739686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200" y="7396873"/>
              <a:ext cx="6647815" cy="18415"/>
            </a:xfrm>
            <a:custGeom>
              <a:avLst/>
              <a:gdLst/>
              <a:ahLst/>
              <a:cxnLst/>
              <a:rect l="l" t="t" r="r" b="b"/>
              <a:pathLst>
                <a:path w="6647815" h="18415">
                  <a:moveTo>
                    <a:pt x="3048" y="3035"/>
                  </a:moveTo>
                  <a:lnTo>
                    <a:pt x="0" y="3035"/>
                  </a:lnTo>
                  <a:lnTo>
                    <a:pt x="0" y="18275"/>
                  </a:lnTo>
                  <a:lnTo>
                    <a:pt x="3048" y="18275"/>
                  </a:lnTo>
                  <a:lnTo>
                    <a:pt x="3048" y="3035"/>
                  </a:lnTo>
                  <a:close/>
                </a:path>
                <a:path w="6647815" h="1841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01585" y="7399908"/>
              <a:ext cx="3175" cy="15240"/>
            </a:xfrm>
            <a:custGeom>
              <a:avLst/>
              <a:gdLst/>
              <a:ahLst/>
              <a:cxnLst/>
              <a:rect l="l" t="t" r="r" b="b"/>
              <a:pathLst>
                <a:path w="3175" h="15240">
                  <a:moveTo>
                    <a:pt x="3047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047" y="15239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741514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200" y="741516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44500" y="6994016"/>
            <a:ext cx="6362700" cy="26777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7493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challenges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minor,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continued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innovation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user </a:t>
            </a:r>
            <a:r>
              <a:rPr sz="1200" b="1" dirty="0">
                <a:latin typeface="Times New Roman"/>
                <a:cs typeface="Times New Roman"/>
              </a:rPr>
              <a:t>education,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infrastructure,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cybersecurity.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Balanced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Perspective: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The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Bigger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Picture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>
              <a:latin typeface="Calibri Light"/>
              <a:cs typeface="Calibri Light"/>
            </a:endParaRPr>
          </a:p>
          <a:p>
            <a:pPr marL="12700" marR="17907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symbol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progress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merging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technological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innovation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financial inclusivity.</a:t>
            </a:r>
            <a:endParaRPr sz="1200">
              <a:latin typeface="Times New Roman"/>
              <a:cs typeface="Times New Roman"/>
            </a:endParaRPr>
          </a:p>
          <a:p>
            <a:pPr marL="12700" marR="36258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advantages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convenience,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transparency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outweighed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operational challenges.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require:</a:t>
            </a:r>
            <a:endParaRPr sz="1200">
              <a:latin typeface="Times New Roman"/>
              <a:cs typeface="Times New Roman"/>
            </a:endParaRPr>
          </a:p>
          <a:p>
            <a:pPr marL="927100" indent="-457200">
              <a:lnSpc>
                <a:spcPts val="1380"/>
              </a:lnSpc>
              <a:buSzPct val="83333"/>
              <a:buFont typeface="Symbol"/>
              <a:buChar char=""/>
              <a:tabLst>
                <a:tab pos="927100" algn="l"/>
              </a:tabLst>
            </a:pPr>
            <a:r>
              <a:rPr sz="1200" b="1" dirty="0">
                <a:latin typeface="Times New Roman"/>
                <a:cs typeface="Times New Roman"/>
              </a:rPr>
              <a:t>Robust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cybersecurity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frameworks</a:t>
            </a:r>
            <a:endParaRPr sz="1200">
              <a:latin typeface="Times New Roman"/>
              <a:cs typeface="Times New Roman"/>
            </a:endParaRPr>
          </a:p>
          <a:p>
            <a:pPr marL="927100" indent="-457200">
              <a:lnSpc>
                <a:spcPts val="1380"/>
              </a:lnSpc>
              <a:buSzPct val="83333"/>
              <a:buFont typeface="Symbol"/>
              <a:buChar char=""/>
              <a:tabLst>
                <a:tab pos="927100" algn="l"/>
              </a:tabLst>
            </a:pP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education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campaigns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rural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semi-</a:t>
            </a:r>
            <a:r>
              <a:rPr sz="1200" dirty="0">
                <a:latin typeface="Times New Roman"/>
                <a:cs typeface="Times New Roman"/>
              </a:rPr>
              <a:t>urban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zones</a:t>
            </a:r>
            <a:endParaRPr sz="1200">
              <a:latin typeface="Times New Roman"/>
              <a:cs typeface="Times New Roman"/>
            </a:endParaRPr>
          </a:p>
          <a:p>
            <a:pPr marL="927100" indent="-457200">
              <a:lnSpc>
                <a:spcPts val="1380"/>
              </a:lnSpc>
              <a:buSzPct val="83333"/>
              <a:buFont typeface="Symbol"/>
              <a:buChar char=""/>
              <a:tabLst>
                <a:tab pos="927100" algn="l"/>
              </a:tabLst>
            </a:pPr>
            <a:r>
              <a:rPr sz="1200" b="1" dirty="0">
                <a:latin typeface="Times New Roman"/>
                <a:cs typeface="Times New Roman"/>
              </a:rPr>
              <a:t>Continual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optimization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volume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handling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globally,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long-</a:t>
            </a:r>
            <a:r>
              <a:rPr sz="1200" dirty="0">
                <a:latin typeface="Times New Roman"/>
                <a:cs typeface="Times New Roman"/>
              </a:rPr>
              <a:t>term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strength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building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trust,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ensuring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security,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sustaining </a:t>
            </a:r>
            <a:r>
              <a:rPr sz="1200" b="1" dirty="0">
                <a:latin typeface="Times New Roman"/>
                <a:cs typeface="Times New Roman"/>
              </a:rPr>
              <a:t>innovation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cashless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dream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permanent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reality.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563369"/>
            <a:ext cx="6647815" cy="20320"/>
            <a:chOff x="457200" y="1563369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1563369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19">
                  <a:moveTo>
                    <a:pt x="6645910" y="0"/>
                  </a:moveTo>
                  <a:lnTo>
                    <a:pt x="0" y="0"/>
                  </a:lnTo>
                  <a:lnTo>
                    <a:pt x="0" y="508"/>
                  </a:lnTo>
                  <a:lnTo>
                    <a:pt x="0" y="3556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156387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1563877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1566925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58064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58064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7200" y="2650489"/>
            <a:ext cx="6647815" cy="20320"/>
            <a:chOff x="457200" y="2650489"/>
            <a:chExt cx="6647815" cy="20320"/>
          </a:xfrm>
        </p:grpSpPr>
        <p:sp>
          <p:nvSpPr>
            <p:cNvPr id="10" name="object 10"/>
            <p:cNvSpPr/>
            <p:nvPr/>
          </p:nvSpPr>
          <p:spPr>
            <a:xfrm>
              <a:off x="457200" y="265048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12"/>
                  </a:moveTo>
                  <a:lnTo>
                    <a:pt x="6644386" y="12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12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1585" y="26504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265048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265353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266725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266725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57200" y="3559809"/>
            <a:ext cx="6647815" cy="20955"/>
            <a:chOff x="457200" y="3559809"/>
            <a:chExt cx="6647815" cy="20955"/>
          </a:xfrm>
        </p:grpSpPr>
        <p:sp>
          <p:nvSpPr>
            <p:cNvPr id="17" name="object 17"/>
            <p:cNvSpPr/>
            <p:nvPr/>
          </p:nvSpPr>
          <p:spPr>
            <a:xfrm>
              <a:off x="457200" y="3559809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901"/>
                  </a:lnTo>
                  <a:lnTo>
                    <a:pt x="0" y="3937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01585" y="356069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3560711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01585" y="356374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35774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" y="3577462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57200" y="4471669"/>
            <a:ext cx="6647815" cy="20320"/>
            <a:chOff x="457200" y="4471669"/>
            <a:chExt cx="6647815" cy="20320"/>
          </a:xfrm>
        </p:grpSpPr>
        <p:sp>
          <p:nvSpPr>
            <p:cNvPr id="24" name="object 24"/>
            <p:cNvSpPr/>
            <p:nvPr/>
          </p:nvSpPr>
          <p:spPr>
            <a:xfrm>
              <a:off x="457200" y="447166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381"/>
                  </a:lnTo>
                  <a:lnTo>
                    <a:pt x="0" y="3429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01585" y="447205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4472050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01585" y="447509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200" y="448881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00" y="448882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57200" y="5556249"/>
            <a:ext cx="6647815" cy="20955"/>
            <a:chOff x="457200" y="5556249"/>
            <a:chExt cx="6647815" cy="20955"/>
          </a:xfrm>
        </p:grpSpPr>
        <p:sp>
          <p:nvSpPr>
            <p:cNvPr id="31" name="object 31"/>
            <p:cNvSpPr/>
            <p:nvPr/>
          </p:nvSpPr>
          <p:spPr>
            <a:xfrm>
              <a:off x="457200" y="5556249"/>
              <a:ext cx="6645909" cy="20320"/>
            </a:xfrm>
            <a:custGeom>
              <a:avLst/>
              <a:gdLst/>
              <a:ahLst/>
              <a:cxnLst/>
              <a:rect l="l" t="t" r="r" b="b"/>
              <a:pathLst>
                <a:path w="6645909" h="20320">
                  <a:moveTo>
                    <a:pt x="6645910" y="0"/>
                  </a:moveTo>
                  <a:lnTo>
                    <a:pt x="0" y="0"/>
                  </a:lnTo>
                  <a:lnTo>
                    <a:pt x="0" y="889"/>
                  </a:lnTo>
                  <a:lnTo>
                    <a:pt x="0" y="3937"/>
                  </a:lnTo>
                  <a:lnTo>
                    <a:pt x="0" y="20320"/>
                  </a:lnTo>
                  <a:lnTo>
                    <a:pt x="6645910" y="20320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01585" y="555713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200" y="5557138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01585" y="556018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557390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200" y="557391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57200" y="6643369"/>
            <a:ext cx="6647815" cy="20955"/>
            <a:chOff x="457200" y="6643369"/>
            <a:chExt cx="6647815" cy="20955"/>
          </a:xfrm>
        </p:grpSpPr>
        <p:sp>
          <p:nvSpPr>
            <p:cNvPr id="38" name="object 38"/>
            <p:cNvSpPr/>
            <p:nvPr/>
          </p:nvSpPr>
          <p:spPr>
            <a:xfrm>
              <a:off x="457200" y="664336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635"/>
                  </a:lnTo>
                  <a:lnTo>
                    <a:pt x="0" y="3683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01585" y="664400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7200" y="664400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01585" y="664705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7200" y="666076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7200" y="6660781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44500" y="377791"/>
            <a:ext cx="6543040" cy="652018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Recommendations</a:t>
            </a:r>
            <a:r>
              <a:rPr sz="1600" b="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Strategic</a:t>
            </a:r>
            <a:r>
              <a:rPr sz="1600" b="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Suggestions</a:t>
            </a:r>
            <a:endParaRPr sz="1600">
              <a:latin typeface="Calibri Light"/>
              <a:cs typeface="Calibri Light"/>
            </a:endParaRPr>
          </a:p>
          <a:p>
            <a:pPr marL="241300" marR="5080">
              <a:lnSpc>
                <a:spcPts val="1380"/>
              </a:lnSpc>
              <a:spcBef>
                <a:spcPts val="434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actionable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strategies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industry </a:t>
            </a:r>
            <a:r>
              <a:rPr sz="1200" dirty="0">
                <a:latin typeface="Times New Roman"/>
                <a:cs typeface="Times New Roman"/>
              </a:rPr>
              <a:t>best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practices.</a:t>
            </a:r>
            <a:endParaRPr sz="1200">
              <a:latin typeface="Times New Roman"/>
              <a:cs typeface="Times New Roman"/>
            </a:endParaRPr>
          </a:p>
          <a:p>
            <a:pPr marL="241300" marR="418465">
              <a:lnSpc>
                <a:spcPts val="137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UPI’s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reach,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reliability,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trust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strengthening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 ecosystem.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Strengthen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Digital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Security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and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Awareness</a:t>
            </a:r>
            <a:endParaRPr sz="1200">
              <a:latin typeface="Calibri Light"/>
              <a:cs typeface="Calibri Light"/>
            </a:endParaRPr>
          </a:p>
          <a:p>
            <a:pPr marL="469900" marR="130175" lvl="1" indent="-229235">
              <a:lnSpc>
                <a:spcPts val="1380"/>
              </a:lnSpc>
              <a:spcBef>
                <a:spcPts val="21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Conduct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awareness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campaigns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rural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educate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frauds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and </a:t>
            </a:r>
            <a:r>
              <a:rPr sz="1200" b="1" spc="-10" dirty="0">
                <a:latin typeface="Times New Roman"/>
                <a:cs typeface="Times New Roman"/>
              </a:rPr>
              <a:t>phishing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1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imes New Roman"/>
                <a:cs typeface="Times New Roman"/>
              </a:rPr>
              <a:t>Implement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AI-</a:t>
            </a:r>
            <a:r>
              <a:rPr sz="1200" b="1" dirty="0">
                <a:latin typeface="Times New Roman"/>
                <a:cs typeface="Times New Roman"/>
              </a:rPr>
              <a:t>based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fraud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detection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alerts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Enforce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two-</a:t>
            </a:r>
            <a:r>
              <a:rPr sz="1200" b="1" dirty="0">
                <a:latin typeface="Times New Roman"/>
                <a:cs typeface="Times New Roman"/>
              </a:rPr>
              <a:t>factor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authentication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security.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Improve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Rural</a:t>
            </a:r>
            <a:r>
              <a:rPr sz="1200" b="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200" b="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Low-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Network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Accessibility</a:t>
            </a:r>
            <a:endParaRPr sz="1200">
              <a:latin typeface="Calibri Light"/>
              <a:cs typeface="Calibri Light"/>
            </a:endParaRPr>
          </a:p>
          <a:p>
            <a:pPr marL="469900" lvl="1" indent="-228600">
              <a:lnSpc>
                <a:spcPts val="1410"/>
              </a:lnSpc>
              <a:spcBef>
                <a:spcPts val="11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Introduce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Lite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offline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low-</a:t>
            </a:r>
            <a:r>
              <a:rPr sz="1200" dirty="0">
                <a:latin typeface="Times New Roman"/>
                <a:cs typeface="Times New Roman"/>
              </a:rPr>
              <a:t>connectivity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zones.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Foster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telecom-</a:t>
            </a:r>
            <a:r>
              <a:rPr sz="1200" b="1" dirty="0">
                <a:latin typeface="Times New Roman"/>
                <a:cs typeface="Times New Roman"/>
              </a:rPr>
              <a:t>fintech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partnerships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low-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regional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language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interfaces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inclusivity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rural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96850" indent="-149225">
              <a:lnSpc>
                <a:spcPct val="100000"/>
              </a:lnSpc>
              <a:buAutoNum type="arabicPeriod"/>
              <a:tabLst>
                <a:tab pos="196850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Enhance</a:t>
            </a:r>
            <a:r>
              <a:rPr sz="12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User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Experience</a:t>
            </a:r>
            <a:r>
              <a:rPr sz="1200" b="0" spc="-3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App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Consistency</a:t>
            </a:r>
            <a:endParaRPr sz="1200">
              <a:latin typeface="Calibri Light"/>
              <a:cs typeface="Calibri Light"/>
            </a:endParaRPr>
          </a:p>
          <a:p>
            <a:pPr marL="469900" lvl="1" indent="-228600">
              <a:lnSpc>
                <a:spcPts val="1410"/>
              </a:lnSpc>
              <a:spcBef>
                <a:spcPts val="12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Standardize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UI/UX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features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rewards,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notifications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cross-</a:t>
            </a:r>
            <a:r>
              <a:rPr sz="1200" b="1" dirty="0">
                <a:latin typeface="Times New Roman"/>
                <a:cs typeface="Times New Roman"/>
              </a:rPr>
              <a:t>app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interoperability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smoother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switching.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predictive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personalize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spending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insights.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Promote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Digital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Literacy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Youth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Engagement</a:t>
            </a:r>
            <a:endParaRPr sz="1200">
              <a:latin typeface="Calibri Light"/>
              <a:cs typeface="Calibri Light"/>
            </a:endParaRPr>
          </a:p>
          <a:p>
            <a:pPr marL="469900" lvl="1" indent="-228600">
              <a:lnSpc>
                <a:spcPts val="1410"/>
              </a:lnSpc>
              <a:spcBef>
                <a:spcPts val="11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Launch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workshops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schools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colleges.</a:t>
            </a:r>
            <a:endParaRPr sz="1200">
              <a:latin typeface="Times New Roman"/>
              <a:cs typeface="Times New Roman"/>
            </a:endParaRPr>
          </a:p>
          <a:p>
            <a:pPr marL="469900" marR="183515" lvl="1" indent="-229235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Collaborate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Smt.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C.H.M.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College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Finance</a:t>
            </a:r>
            <a:r>
              <a:rPr sz="1200" dirty="0">
                <a:latin typeface="Times New Roman"/>
                <a:cs typeface="Times New Roman"/>
              </a:rPr>
              <a:t>”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innovation programs.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4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Motivate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fintech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businesses.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63195" indent="-1504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3195" algn="l"/>
              </a:tabLst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Policy</a:t>
            </a:r>
            <a:r>
              <a:rPr sz="1200" b="0" spc="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&amp;</a:t>
            </a:r>
            <a:r>
              <a:rPr sz="1200" b="0" spc="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Infrastructure</a:t>
            </a:r>
            <a:r>
              <a:rPr sz="1200" b="0" spc="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Development</a:t>
            </a:r>
            <a:endParaRPr sz="1200">
              <a:latin typeface="Calibri Light"/>
              <a:cs typeface="Calibri Light"/>
            </a:endParaRPr>
          </a:p>
          <a:p>
            <a:pPr marL="469900" marR="537845" lvl="1" indent="-229235">
              <a:lnSpc>
                <a:spcPts val="1380"/>
              </a:lnSpc>
              <a:spcBef>
                <a:spcPts val="21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RBI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NPCI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National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Payment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Infrastructure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2.0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AI-based scalability.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31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Offer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incentives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merchants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cashless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tax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benefits).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Encourage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academic–</a:t>
            </a:r>
            <a:r>
              <a:rPr sz="1200" b="1" dirty="0">
                <a:latin typeface="Times New Roman"/>
                <a:cs typeface="Times New Roman"/>
              </a:rPr>
              <a:t>fintech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partnerships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led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policymaking.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Summary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of</a:t>
            </a:r>
            <a:r>
              <a:rPr sz="1200" b="0" spc="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Recommendations</a:t>
            </a:r>
            <a:endParaRPr sz="1200">
              <a:latin typeface="Calibri Light"/>
              <a:cs typeface="Calibri Light"/>
            </a:endParaRPr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666241" y="7268844"/>
          <a:ext cx="5824855" cy="15182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R="302895" algn="ctr">
                        <a:lnSpc>
                          <a:spcPts val="105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Focus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Area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ts val="105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Strategy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0840" algn="ctr">
                        <a:lnSpc>
                          <a:spcPts val="105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Impact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marR="3016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Security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Fraud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prevention,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detection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3689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Higher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trust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R="3028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Accessibility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Offline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UPI,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3695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Wider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rural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adoption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R="30289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User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Experience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R="501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Unified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analytics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695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Consistent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engagement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R="30162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Education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Awareness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college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partnerships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3695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Smarter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youth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users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R="302260" algn="ctr">
                        <a:lnSpc>
                          <a:spcPts val="1275"/>
                        </a:lnSpc>
                        <a:spcBef>
                          <a:spcPts val="26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Policy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1275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Data-driven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fintech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reforms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70205" algn="ctr">
                        <a:lnSpc>
                          <a:spcPts val="1275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Stronger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economy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444500" y="9094469"/>
            <a:ext cx="6116955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executed</a:t>
            </a:r>
            <a:r>
              <a:rPr sz="1200" spc="-10" dirty="0">
                <a:latin typeface="Times New Roman"/>
                <a:cs typeface="Times New Roman"/>
              </a:rPr>
              <a:t> effectively,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recommendations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global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benchmark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secure, </a:t>
            </a:r>
            <a:r>
              <a:rPr sz="1200" dirty="0">
                <a:latin typeface="Times New Roman"/>
                <a:cs typeface="Times New Roman"/>
              </a:rPr>
              <a:t>inclusive,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intelligent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finance.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5355"/>
            <a:ext cx="6610350" cy="541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Conclusion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ts val="1380"/>
              </a:lnSpc>
              <a:spcBef>
                <a:spcPts val="183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“UPI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Cashless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Economy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Study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Adoption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in </a:t>
            </a:r>
            <a:r>
              <a:rPr sz="1200" b="1" dirty="0">
                <a:latin typeface="Times New Roman"/>
                <a:cs typeface="Times New Roman"/>
              </a:rPr>
              <a:t>India”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financial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innovation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shaping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economy.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survey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cleaning,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Excel-</a:t>
            </a:r>
            <a:r>
              <a:rPr sz="1200" b="1" dirty="0">
                <a:latin typeface="Times New Roman"/>
                <a:cs typeface="Times New Roman"/>
              </a:rPr>
              <a:t>based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dashboards,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and </a:t>
            </a:r>
            <a:r>
              <a:rPr sz="1200" b="1" spc="-10" dirty="0">
                <a:latin typeface="Times New Roman"/>
                <a:cs typeface="Times New Roman"/>
              </a:rPr>
              <a:t>KPI-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insights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translated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narrative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especially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embracing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39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60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verified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responses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collected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across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revealed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93%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participants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actively </a:t>
            </a: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most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trusted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preferred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ecosystem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nation.</a:t>
            </a:r>
            <a:endParaRPr sz="1200">
              <a:latin typeface="Times New Roman"/>
              <a:cs typeface="Times New Roman"/>
            </a:endParaRPr>
          </a:p>
          <a:p>
            <a:pPr marL="12700" marR="1346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Google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(46%)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PhonePe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(32%)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emerged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leaders,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trust,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seamless </a:t>
            </a:r>
            <a:r>
              <a:rPr sz="1200" dirty="0">
                <a:latin typeface="Times New Roman"/>
                <a:cs typeface="Times New Roman"/>
              </a:rPr>
              <a:t>experience,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innovative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cashback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programs.</a:t>
            </a:r>
            <a:endParaRPr sz="1200">
              <a:latin typeface="Times New Roman"/>
              <a:cs typeface="Times New Roman"/>
            </a:endParaRPr>
          </a:p>
          <a:p>
            <a:pPr marL="12700" marR="83185">
              <a:lnSpc>
                <a:spcPct val="95900"/>
              </a:lnSpc>
              <a:spcBef>
                <a:spcPts val="1355"/>
              </a:spcBef>
            </a:pPr>
            <a:r>
              <a:rPr sz="1200" dirty="0">
                <a:latin typeface="Times New Roman"/>
                <a:cs typeface="Times New Roman"/>
              </a:rPr>
              <a:t>Beyond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evolved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fintech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tool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into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lifestyle </a:t>
            </a:r>
            <a:r>
              <a:rPr sz="1200" b="1" dirty="0">
                <a:latin typeface="Times New Roman"/>
                <a:cs typeface="Times New Roman"/>
              </a:rPr>
              <a:t>enabler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merchants,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institutions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daily </a:t>
            </a:r>
            <a:r>
              <a:rPr sz="1200" dirty="0">
                <a:latin typeface="Times New Roman"/>
                <a:cs typeface="Times New Roman"/>
              </a:rPr>
              <a:t>life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vendors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universities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underscores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youth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driving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transition </a:t>
            </a:r>
            <a:r>
              <a:rPr sz="1200" b="1" dirty="0">
                <a:latin typeface="Times New Roman"/>
                <a:cs typeface="Times New Roman"/>
              </a:rPr>
              <a:t>toward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transparent,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inclusive,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cashless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economy.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1526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perspective,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showcases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science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converts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behavioral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into </a:t>
            </a:r>
            <a:r>
              <a:rPr sz="1200" b="1" dirty="0">
                <a:latin typeface="Times New Roman"/>
                <a:cs typeface="Times New Roman"/>
              </a:rPr>
              <a:t>actionable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insights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fundamental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modern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industries.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Query, </a:t>
            </a:r>
            <a:r>
              <a:rPr sz="1200" b="1" dirty="0">
                <a:latin typeface="Times New Roman"/>
                <a:cs typeface="Times New Roman"/>
              </a:rPr>
              <a:t>PivotTables,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visualization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mirrors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methodologies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corporate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at </a:t>
            </a:r>
            <a:r>
              <a:rPr sz="1200" dirty="0">
                <a:latin typeface="Times New Roman"/>
                <a:cs typeface="Times New Roman"/>
              </a:rPr>
              <a:t>firms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Deloitte,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KPMG,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Google.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4465">
              <a:lnSpc>
                <a:spcPts val="138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essence,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UPI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merely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platform -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heartbeat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India’s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revolution.</a:t>
            </a:r>
            <a:r>
              <a:rPr sz="1200" b="1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innovation,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trust,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empowerment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transform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economy.</a:t>
            </a:r>
            <a:endParaRPr sz="1200">
              <a:latin typeface="Times New Roman"/>
              <a:cs typeface="Times New Roman"/>
            </a:endParaRPr>
          </a:p>
          <a:p>
            <a:pPr marL="12700" marR="31115">
              <a:lnSpc>
                <a:spcPct val="95900"/>
              </a:lnSpc>
              <a:spcBef>
                <a:spcPts val="1355"/>
              </a:spcBef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journey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toward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cashless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affirm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transformative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potential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decision-</a:t>
            </a:r>
            <a:r>
              <a:rPr sz="1200" b="1" dirty="0">
                <a:latin typeface="Times New Roman"/>
                <a:cs typeface="Times New Roman"/>
              </a:rPr>
              <a:t>making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building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smarter,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world.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0485" y="9231629"/>
            <a:ext cx="33394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India’s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Digital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Generation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—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Powering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Cashless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Revolution.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9698990"/>
            <a:ext cx="6647815" cy="20955"/>
            <a:chOff x="457200" y="9698990"/>
            <a:chExt cx="6647815" cy="20955"/>
          </a:xfrm>
        </p:grpSpPr>
        <p:sp>
          <p:nvSpPr>
            <p:cNvPr id="5" name="object 5"/>
            <p:cNvSpPr/>
            <p:nvPr/>
          </p:nvSpPr>
          <p:spPr>
            <a:xfrm>
              <a:off x="457200" y="9698990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977"/>
                  </a:lnTo>
                  <a:lnTo>
                    <a:pt x="0" y="4013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969995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9699968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01585" y="970300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971671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9716732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154" y="5880734"/>
            <a:ext cx="7038975" cy="33293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328544"/>
            <a:ext cx="6647815" cy="20320"/>
            <a:chOff x="457200" y="2328544"/>
            <a:chExt cx="6647815" cy="20320"/>
          </a:xfrm>
        </p:grpSpPr>
        <p:sp>
          <p:nvSpPr>
            <p:cNvPr id="3" name="object 3"/>
            <p:cNvSpPr/>
            <p:nvPr/>
          </p:nvSpPr>
          <p:spPr>
            <a:xfrm>
              <a:off x="457200" y="2328556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368"/>
                  </a:lnTo>
                  <a:lnTo>
                    <a:pt x="0" y="3416"/>
                  </a:lnTo>
                  <a:lnTo>
                    <a:pt x="0" y="19672"/>
                  </a:lnTo>
                  <a:lnTo>
                    <a:pt x="6645910" y="19672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01585" y="23289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232892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1585" y="233197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23456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234568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435355"/>
            <a:ext cx="6612890" cy="39992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Project</a:t>
            </a:r>
            <a:r>
              <a:rPr sz="1600" b="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Information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Summary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b="1" dirty="0">
                <a:latin typeface="Times New Roman"/>
                <a:cs typeface="Times New Roman"/>
              </a:rPr>
              <a:t>Field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Report: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Adoption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UPI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&amp;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Cashless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Economy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-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Field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Investigation.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Institution</a:t>
            </a:r>
            <a:r>
              <a:rPr sz="1200" b="0" spc="-3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Details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Times New Roman"/>
                <a:cs typeface="Times New Roman"/>
              </a:rPr>
              <a:t>College: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Smt.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C.H.M.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College,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Science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b="1" dirty="0">
                <a:latin typeface="Times New Roman"/>
                <a:cs typeface="Times New Roman"/>
              </a:rPr>
              <a:t>University: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Mumbai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University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b="1" dirty="0">
                <a:latin typeface="Times New Roman"/>
                <a:cs typeface="Times New Roman"/>
              </a:rPr>
              <a:t>Academic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Year: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2025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0" dirty="0">
                <a:latin typeface="Times New Roman"/>
                <a:cs typeface="Times New Roman"/>
              </a:rPr>
              <a:t> 2026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b="1" dirty="0">
                <a:latin typeface="Times New Roman"/>
                <a:cs typeface="Times New Roman"/>
              </a:rPr>
              <a:t>Faculty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Mentor: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Shiji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Johnson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(HOD,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Science)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Times New Roman"/>
                <a:cs typeface="Times New Roman"/>
              </a:rPr>
              <a:t>Submission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Date: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November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2025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Project</a:t>
            </a:r>
            <a:r>
              <a:rPr sz="1200" b="0" spc="-3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Overview</a:t>
            </a:r>
            <a:endParaRPr sz="1200">
              <a:latin typeface="Calibri Light"/>
              <a:cs typeface="Calibri Light"/>
            </a:endParaRPr>
          </a:p>
          <a:p>
            <a:pPr marL="12700" marR="161925">
              <a:lnSpc>
                <a:spcPts val="138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investigates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India’s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transition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toward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cashless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economy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nationwide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(60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conducted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</a:t>
            </a:r>
            <a:r>
              <a:rPr sz="1200" spc="-10" dirty="0">
                <a:latin typeface="Times New Roman"/>
                <a:cs typeface="Times New Roman"/>
              </a:rPr>
              <a:t> Forms.</a:t>
            </a:r>
            <a:endParaRPr sz="1200">
              <a:latin typeface="Times New Roman"/>
              <a:cs typeface="Times New Roman"/>
            </a:endParaRPr>
          </a:p>
          <a:p>
            <a:pPr marL="12700" marR="230504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PivotTables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interactive </a:t>
            </a:r>
            <a:r>
              <a:rPr sz="1200" b="1" dirty="0">
                <a:latin typeface="Times New Roman"/>
                <a:cs typeface="Times New Roman"/>
              </a:rPr>
              <a:t>Excel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Dashboard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uncovers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adoption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preferences,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perception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52755">
              <a:lnSpc>
                <a:spcPts val="138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Core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Tools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Techniques: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Microsoft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KPI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20" dirty="0">
                <a:latin typeface="Times New Roman"/>
                <a:cs typeface="Times New Roman"/>
              </a:rPr>
              <a:t> Data </a:t>
            </a:r>
            <a:r>
              <a:rPr sz="1200" spc="-10" dirty="0">
                <a:latin typeface="Times New Roman"/>
                <a:cs typeface="Times New Roman"/>
              </a:rPr>
              <a:t>Visualization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7200" y="4631689"/>
            <a:ext cx="6647815" cy="20320"/>
            <a:chOff x="457200" y="4631689"/>
            <a:chExt cx="6647815" cy="20320"/>
          </a:xfrm>
        </p:grpSpPr>
        <p:sp>
          <p:nvSpPr>
            <p:cNvPr id="11" name="object 11"/>
            <p:cNvSpPr/>
            <p:nvPr/>
          </p:nvSpPr>
          <p:spPr>
            <a:xfrm>
              <a:off x="457200" y="463168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381"/>
                  </a:lnTo>
                  <a:lnTo>
                    <a:pt x="0" y="3429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01585" y="463207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" y="4632070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01585" y="463511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464883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464884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44500" y="4725279"/>
            <a:ext cx="1491615" cy="4343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Team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Members &amp;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Roles</a:t>
            </a:r>
            <a:endParaRPr sz="1200">
              <a:latin typeface="Calibri Light"/>
              <a:cs typeface="Calibri Light"/>
            </a:endParaRPr>
          </a:p>
          <a:p>
            <a:pPr marL="366395">
              <a:lnSpc>
                <a:spcPct val="100000"/>
              </a:lnSpc>
              <a:spcBef>
                <a:spcPts val="260"/>
              </a:spcBef>
            </a:pPr>
            <a:r>
              <a:rPr sz="1000" b="1" spc="-20" dirty="0">
                <a:latin typeface="Calibri"/>
                <a:cs typeface="Calibri"/>
              </a:rPr>
              <a:t>Name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63239" y="4982082"/>
            <a:ext cx="14376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Designation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/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Contribution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323" y="5353938"/>
            <a:ext cx="8153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Rehan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Khan</a:t>
            </a:r>
            <a:r>
              <a:rPr sz="1000" b="1" spc="5" dirty="0">
                <a:latin typeface="Calibri"/>
                <a:cs typeface="Calibri"/>
              </a:rPr>
              <a:t> </a:t>
            </a:r>
            <a:r>
              <a:rPr sz="1000" b="1" spc="-25" dirty="0"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658" y="5277738"/>
            <a:ext cx="5397500" cy="3314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321560" marR="5080" indent="-2309495">
              <a:lnSpc>
                <a:spcPct val="101000"/>
              </a:lnSpc>
              <a:spcBef>
                <a:spcPts val="80"/>
              </a:spcBef>
            </a:pPr>
            <a:r>
              <a:rPr sz="1000" i="1" dirty="0">
                <a:latin typeface="Calibri"/>
                <a:cs typeface="Calibri"/>
              </a:rPr>
              <a:t>Data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Analyst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&amp;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Dashboard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Developer</a:t>
            </a:r>
            <a:r>
              <a:rPr sz="1000" i="1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data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cleaning,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analytics,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dashboard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creation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using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Power </a:t>
            </a:r>
            <a:r>
              <a:rPr sz="1000" dirty="0">
                <a:latin typeface="Calibri"/>
                <a:cs typeface="Calibri"/>
              </a:rPr>
              <a:t>Query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&amp;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Excel.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6983" y="5726048"/>
            <a:ext cx="923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Soham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Morye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35" dirty="0">
                <a:latin typeface="Calibri"/>
                <a:cs typeface="Calibri"/>
              </a:rPr>
              <a:t>19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91257" y="5726048"/>
            <a:ext cx="4180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Survey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Designer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&amp;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Coordinator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design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&amp;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Led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Google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Form,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managed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responses.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2223" y="6021704"/>
            <a:ext cx="8915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Grishma</a:t>
            </a:r>
            <a:r>
              <a:rPr sz="1000" b="1" spc="-4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Patil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spc="-25" dirty="0">
                <a:latin typeface="Calibri"/>
                <a:cs typeface="Calibri"/>
              </a:rPr>
              <a:t>24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97126" y="6021704"/>
            <a:ext cx="4767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latin typeface="Calibri"/>
                <a:cs typeface="Calibri"/>
              </a:rPr>
              <a:t>Documentation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&amp;</a:t>
            </a:r>
            <a:r>
              <a:rPr sz="1000" i="1" spc="-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Formatting -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Structured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report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content,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visuals,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academic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formatting.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9363" y="6315836"/>
            <a:ext cx="9359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Khushi</a:t>
            </a:r>
            <a:r>
              <a:rPr sz="1000" b="1" spc="-4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Mishra</a:t>
            </a:r>
            <a:r>
              <a:rPr sz="1000" b="1" spc="-25" dirty="0">
                <a:latin typeface="Calibri"/>
                <a:cs typeface="Calibri"/>
              </a:rPr>
              <a:t> 17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10257" y="6315836"/>
            <a:ext cx="49415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Proofreader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&amp;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Quality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Reviewer</a:t>
            </a:r>
            <a:r>
              <a:rPr sz="1000" i="1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Refined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grammar,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formatting,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layout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final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submission.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0700" y="6611492"/>
            <a:ext cx="893444" cy="3314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2905" marR="5080" indent="-370840">
              <a:lnSpc>
                <a:spcPct val="101000"/>
              </a:lnSpc>
              <a:spcBef>
                <a:spcPts val="80"/>
              </a:spcBef>
            </a:pPr>
            <a:r>
              <a:rPr sz="1000" b="1" dirty="0">
                <a:latin typeface="Calibri"/>
                <a:cs typeface="Calibri"/>
              </a:rPr>
              <a:t>Pradnya</a:t>
            </a:r>
            <a:r>
              <a:rPr sz="1000" b="1" spc="-3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Ughade </a:t>
            </a:r>
            <a:r>
              <a:rPr sz="1000" b="1" spc="-25" dirty="0">
                <a:latin typeface="Calibri"/>
                <a:cs typeface="Calibri"/>
              </a:rPr>
              <a:t>33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54810" y="6687692"/>
            <a:ext cx="52501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Final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Copy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&amp;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Presentation</a:t>
            </a:r>
            <a:r>
              <a:rPr sz="1000" i="1" spc="-1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-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Prepared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handwritten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version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finalized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report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college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submission.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7200" y="7098665"/>
            <a:ext cx="6647815" cy="20955"/>
            <a:chOff x="457200" y="7098665"/>
            <a:chExt cx="6647815" cy="20955"/>
          </a:xfrm>
        </p:grpSpPr>
        <p:sp>
          <p:nvSpPr>
            <p:cNvPr id="30" name="object 30"/>
            <p:cNvSpPr/>
            <p:nvPr/>
          </p:nvSpPr>
          <p:spPr>
            <a:xfrm>
              <a:off x="457200" y="709866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016"/>
                  </a:lnTo>
                  <a:lnTo>
                    <a:pt x="0" y="4064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01585" y="709968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7200" y="7099680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01585" y="710272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7200" y="711644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7116457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44500" y="7198497"/>
            <a:ext cx="1217930" cy="44386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Technical</a:t>
            </a:r>
            <a:r>
              <a:rPr sz="1200" b="0" spc="-4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Summary</a:t>
            </a:r>
            <a:endParaRPr sz="1200">
              <a:latin typeface="Calibri Light"/>
              <a:cs typeface="Calibri Light"/>
            </a:endParaRPr>
          </a:p>
          <a:p>
            <a:pPr marR="50800" algn="ctr">
              <a:lnSpc>
                <a:spcPct val="100000"/>
              </a:lnSpc>
              <a:spcBef>
                <a:spcPts val="259"/>
              </a:spcBef>
            </a:pPr>
            <a:r>
              <a:rPr sz="1100" b="1" spc="-10" dirty="0">
                <a:latin typeface="Calibri"/>
                <a:cs typeface="Calibri"/>
              </a:rPr>
              <a:t>Parameter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79191" y="7448168"/>
            <a:ext cx="4273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Details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6336" y="7759445"/>
            <a:ext cx="734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Dataset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Size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08630" y="7759445"/>
            <a:ext cx="17659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60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Valid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Responses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(Pan-India)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9572" y="8068817"/>
            <a:ext cx="768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Study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Period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36647" y="8068817"/>
            <a:ext cx="15106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October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November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2025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5480" y="8379714"/>
            <a:ext cx="7150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Focus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Areas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10613" y="8379714"/>
            <a:ext cx="3565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UPI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Adoption,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Frequency,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Preference,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Security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Perception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8236" y="8689085"/>
            <a:ext cx="8083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Methodology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84705" y="8689085"/>
            <a:ext cx="36175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Survey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→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Cleaning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→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Analysis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→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Dashboard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→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Documentation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3508" y="8999981"/>
            <a:ext cx="5619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Outcome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34057" y="8999981"/>
            <a:ext cx="33153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Data-backed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insights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India’s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digital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payment</a:t>
            </a:r>
            <a:r>
              <a:rPr sz="1100" spc="-10" dirty="0">
                <a:latin typeface="Calibri"/>
                <a:cs typeface="Calibri"/>
              </a:rPr>
              <a:t> behavior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3455" y="9310827"/>
            <a:ext cx="10991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Collaboration</a:t>
            </a:r>
            <a:r>
              <a:rPr sz="1100" b="1" spc="6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Tool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50110" y="9310827"/>
            <a:ext cx="24828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Google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Drive</a:t>
            </a:r>
            <a:r>
              <a:rPr sz="1100" spc="-10" dirty="0">
                <a:latin typeface="Calibri"/>
                <a:cs typeface="Calibri"/>
              </a:rPr>
              <a:t> (Real-</a:t>
            </a:r>
            <a:r>
              <a:rPr sz="1100" dirty="0">
                <a:latin typeface="Calibri"/>
                <a:cs typeface="Calibri"/>
              </a:rPr>
              <a:t>time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shared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workspace)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5355"/>
            <a:ext cx="1985645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References</a:t>
            </a:r>
            <a:r>
              <a:rPr sz="1600" b="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dirty="0">
                <a:solidFill>
                  <a:srgbClr val="2E5395"/>
                </a:solidFill>
                <a:latin typeface="Calibri Light"/>
                <a:cs typeface="Calibri Light"/>
              </a:rPr>
              <a:t>&amp;</a:t>
            </a:r>
            <a:r>
              <a:rPr sz="1600" b="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b="0" spc="-10" dirty="0">
                <a:solidFill>
                  <a:srgbClr val="2E5395"/>
                </a:solidFill>
                <a:latin typeface="Calibri Light"/>
                <a:cs typeface="Calibri Light"/>
              </a:rPr>
              <a:t>Appendix:</a:t>
            </a:r>
            <a:endParaRPr sz="1600">
              <a:latin typeface="Calibri Light"/>
              <a:cs typeface="Calibri Light"/>
            </a:endParaRPr>
          </a:p>
          <a:p>
            <a:pPr marL="60960">
              <a:lnSpc>
                <a:spcPct val="100000"/>
              </a:lnSpc>
              <a:spcBef>
                <a:spcPts val="55"/>
              </a:spcBef>
            </a:pPr>
            <a:r>
              <a:rPr sz="1400" b="0" spc="-10" dirty="0">
                <a:solidFill>
                  <a:srgbClr val="2E5395"/>
                </a:solidFill>
                <a:latin typeface="Calibri Light"/>
                <a:cs typeface="Calibri Light"/>
              </a:rPr>
              <a:t>References</a:t>
            </a:r>
            <a:endParaRPr sz="1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631564"/>
            <a:ext cx="6647815" cy="20955"/>
            <a:chOff x="457200" y="3631564"/>
            <a:chExt cx="6647815" cy="20955"/>
          </a:xfrm>
        </p:grpSpPr>
        <p:sp>
          <p:nvSpPr>
            <p:cNvPr id="4" name="object 4"/>
            <p:cNvSpPr/>
            <p:nvPr/>
          </p:nvSpPr>
          <p:spPr>
            <a:xfrm>
              <a:off x="457200" y="3631577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49"/>
                  </a:lnTo>
                  <a:lnTo>
                    <a:pt x="0" y="3797"/>
                  </a:lnTo>
                  <a:lnTo>
                    <a:pt x="0" y="19672"/>
                  </a:lnTo>
                  <a:lnTo>
                    <a:pt x="6645910" y="19672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363232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632326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363537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64909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364910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57200" y="5198998"/>
            <a:ext cx="6647815" cy="21590"/>
            <a:chOff x="457200" y="5198998"/>
            <a:chExt cx="6647815" cy="21590"/>
          </a:xfrm>
        </p:grpSpPr>
        <p:sp>
          <p:nvSpPr>
            <p:cNvPr id="11" name="object 11"/>
            <p:cNvSpPr/>
            <p:nvPr/>
          </p:nvSpPr>
          <p:spPr>
            <a:xfrm>
              <a:off x="457200" y="5199011"/>
              <a:ext cx="6645909" cy="20955"/>
            </a:xfrm>
            <a:custGeom>
              <a:avLst/>
              <a:gdLst/>
              <a:ahLst/>
              <a:cxnLst/>
              <a:rect l="l" t="t" r="r" b="b"/>
              <a:pathLst>
                <a:path w="6645909" h="20954">
                  <a:moveTo>
                    <a:pt x="6645910" y="1003"/>
                  </a:moveTo>
                  <a:lnTo>
                    <a:pt x="6644386" y="1003"/>
                  </a:ln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1003"/>
                  </a:lnTo>
                  <a:lnTo>
                    <a:pt x="0" y="3035"/>
                  </a:lnTo>
                  <a:lnTo>
                    <a:pt x="0" y="20688"/>
                  </a:lnTo>
                  <a:lnTo>
                    <a:pt x="6645910" y="20688"/>
                  </a:lnTo>
                  <a:lnTo>
                    <a:pt x="6645910" y="1003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01585" y="519899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" y="5199011"/>
              <a:ext cx="6647815" cy="18415"/>
            </a:xfrm>
            <a:custGeom>
              <a:avLst/>
              <a:gdLst/>
              <a:ahLst/>
              <a:cxnLst/>
              <a:rect l="l" t="t" r="r" b="b"/>
              <a:pathLst>
                <a:path w="6647815" h="18414">
                  <a:moveTo>
                    <a:pt x="3048" y="3035"/>
                  </a:moveTo>
                  <a:lnTo>
                    <a:pt x="0" y="3035"/>
                  </a:lnTo>
                  <a:lnTo>
                    <a:pt x="0" y="18275"/>
                  </a:lnTo>
                  <a:lnTo>
                    <a:pt x="3048" y="18275"/>
                  </a:lnTo>
                  <a:lnTo>
                    <a:pt x="3048" y="3035"/>
                  </a:lnTo>
                  <a:close/>
                </a:path>
                <a:path w="6647815" h="18414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01585" y="5202046"/>
              <a:ext cx="3175" cy="15240"/>
            </a:xfrm>
            <a:custGeom>
              <a:avLst/>
              <a:gdLst/>
              <a:ahLst/>
              <a:cxnLst/>
              <a:rect l="l" t="t" r="r" b="b"/>
              <a:pathLst>
                <a:path w="3175" h="15239">
                  <a:moveTo>
                    <a:pt x="3047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047" y="15239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00" y="52172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521729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44500" y="5257926"/>
            <a:ext cx="3783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B.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Sample</a:t>
            </a:r>
            <a:r>
              <a:rPr sz="1200" b="0" spc="-2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of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Cleaned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Dataset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(After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Power</a:t>
            </a:r>
            <a:r>
              <a:rPr sz="1200" b="0" spc="-1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Query</a:t>
            </a:r>
            <a:r>
              <a:rPr sz="1200" b="0" spc="-2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Processing)</a:t>
            </a:r>
            <a:endParaRPr sz="1200">
              <a:latin typeface="Calibri Light"/>
              <a:cs typeface="Calibri Light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40792" y="5477890"/>
          <a:ext cx="7117071" cy="626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2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17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2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4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1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1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92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990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700"/>
                        </a:lnSpc>
                        <a:spcBef>
                          <a:spcPts val="675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10/25/2025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ts val="70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23:40:32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04775" marR="97155" indent="13335">
                        <a:lnSpc>
                          <a:spcPts val="68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Aditya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Ughade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600" b="1" dirty="0">
                          <a:latin typeface="Times New Roman"/>
                          <a:cs typeface="Times New Roman"/>
                        </a:rPr>
                        <a:t>Unr</a:t>
                      </a:r>
                      <a:r>
                        <a:rPr sz="6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  <a:hlinkClick r:id="rId2"/>
                        </a:rPr>
                        <a:t>2@gmail.com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675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18-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7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33985" marR="74295" indent="-52069">
                        <a:lnSpc>
                          <a:spcPts val="68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Pay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675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6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700"/>
                        </a:lnSpc>
                      </a:pPr>
                      <a:r>
                        <a:rPr sz="600" b="1" spc="-20" dirty="0">
                          <a:latin typeface="Times New Roman"/>
                          <a:cs typeface="Times New Roman"/>
                        </a:rPr>
                        <a:t>Times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ct val="100000"/>
                        </a:lnSpc>
                      </a:pPr>
                      <a:r>
                        <a:rPr sz="600" b="1" dirty="0">
                          <a:latin typeface="Times New Roman"/>
                          <a:cs typeface="Times New Roman"/>
                        </a:rPr>
                        <a:t>Bill</a:t>
                      </a:r>
                      <a:r>
                        <a:rPr sz="6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Payments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99390" marR="137160" indent="-56515">
                        <a:lnSpc>
                          <a:spcPts val="680"/>
                        </a:lnSpc>
                      </a:pPr>
                      <a:r>
                        <a:rPr sz="600" b="1" dirty="0">
                          <a:latin typeface="Times New Roman"/>
                          <a:cs typeface="Times New Roman"/>
                        </a:rPr>
                        <a:t>All of</a:t>
                      </a:r>
                      <a:r>
                        <a:rPr sz="6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above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6520" algn="ctr">
                        <a:lnSpc>
                          <a:spcPct val="96200"/>
                        </a:lnSpc>
                      </a:pPr>
                      <a:r>
                        <a:rPr sz="600" b="1" dirty="0">
                          <a:latin typeface="Times New Roman"/>
                          <a:cs typeface="Times New Roman"/>
                        </a:rPr>
                        <a:t>Poor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Connectivity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(Network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issues)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44780">
                        <a:lnSpc>
                          <a:spcPct val="10000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Nothing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710"/>
                        </a:lnSpc>
                        <a:spcBef>
                          <a:spcPts val="320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10/26/2025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44780">
                        <a:lnSpc>
                          <a:spcPts val="71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6:46:50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69850" indent="77470">
                        <a:lnSpc>
                          <a:spcPts val="700"/>
                        </a:lnSpc>
                        <a:spcBef>
                          <a:spcPts val="360"/>
                        </a:spcBef>
                      </a:pPr>
                      <a:r>
                        <a:rPr sz="600" b="1" spc="-20" dirty="0">
                          <a:latin typeface="Times New Roman"/>
                          <a:cs typeface="Times New Roman"/>
                        </a:rPr>
                        <a:t>Riya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Salunkhe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  <a:hlinkClick r:id="rId3"/>
                        </a:rPr>
                        <a:t>salunkheriya76@gmail.com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  <a:spcBef>
                          <a:spcPts val="32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18-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710"/>
                        </a:lnSpc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133985" marR="74295" indent="-52069">
                        <a:lnSpc>
                          <a:spcPts val="700"/>
                        </a:lnSpc>
                        <a:spcBef>
                          <a:spcPts val="360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Pay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  <a:spcBef>
                          <a:spcPts val="320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6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710"/>
                        </a:lnSpc>
                      </a:pPr>
                      <a:r>
                        <a:rPr sz="600" b="1" spc="-20" dirty="0">
                          <a:latin typeface="Times New Roman"/>
                          <a:cs typeface="Times New Roman"/>
                        </a:rPr>
                        <a:t>Times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79375" marR="71755" indent="-1905" algn="ctr">
                        <a:lnSpc>
                          <a:spcPct val="9580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grocery/Kirana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20" dirty="0">
                          <a:latin typeface="Times New Roman"/>
                          <a:cs typeface="Times New Roman"/>
                        </a:rPr>
                        <a:t>Shop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600" b="1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80010" indent="-21590" algn="just">
                        <a:lnSpc>
                          <a:spcPct val="9580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Convenience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latin typeface="Times New Roman"/>
                          <a:cs typeface="Times New Roman"/>
                        </a:rPr>
                        <a:t>(No</a:t>
                      </a:r>
                      <a:r>
                        <a:rPr sz="6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3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latin typeface="Times New Roman"/>
                          <a:cs typeface="Times New Roman"/>
                        </a:rPr>
                        <a:t>carry</a:t>
                      </a:r>
                      <a:r>
                        <a:rPr sz="6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cash)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170180" marR="70485" indent="-94615">
                        <a:lnSpc>
                          <a:spcPts val="700"/>
                        </a:lnSpc>
                        <a:spcBef>
                          <a:spcPts val="360"/>
                        </a:spcBef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Security/Fraud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Concerns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85725" indent="-3175" algn="just">
                        <a:lnSpc>
                          <a:spcPct val="95800"/>
                        </a:lnSpc>
                      </a:pP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Investment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savings</a:t>
                      </a:r>
                      <a:r>
                        <a:rPr sz="6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b="1" spc="-10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2374519" y="6102476"/>
            <a:ext cx="2813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i="1" dirty="0">
                <a:latin typeface="Times New Roman"/>
                <a:cs typeface="Times New Roman"/>
              </a:rPr>
              <a:t>Snapshot</a:t>
            </a:r>
            <a:r>
              <a:rPr sz="650" i="1" spc="-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of</a:t>
            </a:r>
            <a:r>
              <a:rPr sz="650" i="1" spc="-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cleaned dataset used for</a:t>
            </a:r>
            <a:r>
              <a:rPr sz="650" i="1" spc="-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analytical</a:t>
            </a:r>
            <a:r>
              <a:rPr sz="650" i="1" spc="-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processing</a:t>
            </a:r>
            <a:r>
              <a:rPr sz="650" i="1" spc="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and</a:t>
            </a:r>
            <a:r>
              <a:rPr sz="650" i="1" spc="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dashboard</a:t>
            </a:r>
            <a:r>
              <a:rPr sz="650" i="1" spc="-5" dirty="0">
                <a:latin typeface="Times New Roman"/>
                <a:cs typeface="Times New Roman"/>
              </a:rPr>
              <a:t> </a:t>
            </a:r>
            <a:r>
              <a:rPr sz="650" i="1" spc="-10" dirty="0">
                <a:latin typeface="Times New Roman"/>
                <a:cs typeface="Times New Roman"/>
              </a:rPr>
              <a:t>creation</a:t>
            </a:r>
            <a:r>
              <a:rPr sz="1500" i="1" spc="-15" baseline="5555" dirty="0">
                <a:latin typeface="Times New Roman"/>
                <a:cs typeface="Times New Roman"/>
              </a:rPr>
              <a:t>.</a:t>
            </a:r>
            <a:endParaRPr sz="1500" baseline="5555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7200" y="6350634"/>
            <a:ext cx="6647815" cy="20955"/>
            <a:chOff x="457200" y="6350634"/>
            <a:chExt cx="6647815" cy="20955"/>
          </a:xfrm>
        </p:grpSpPr>
        <p:sp>
          <p:nvSpPr>
            <p:cNvPr id="21" name="object 21"/>
            <p:cNvSpPr/>
            <p:nvPr/>
          </p:nvSpPr>
          <p:spPr>
            <a:xfrm>
              <a:off x="457200" y="635063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774"/>
                  </a:lnTo>
                  <a:lnTo>
                    <a:pt x="0" y="3810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01585" y="635139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6351409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01585" y="635444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200" y="636816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6368173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4500" y="6408800"/>
            <a:ext cx="1768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C.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Final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dirty="0">
                <a:solidFill>
                  <a:srgbClr val="1F3762"/>
                </a:solidFill>
                <a:latin typeface="Calibri Light"/>
                <a:cs typeface="Calibri Light"/>
              </a:rPr>
              <a:t>Dashboard</a:t>
            </a:r>
            <a:r>
              <a:rPr sz="1200" b="0" spc="-5" dirty="0">
                <a:solidFill>
                  <a:srgbClr val="1F3762"/>
                </a:solidFill>
                <a:latin typeface="Calibri Light"/>
                <a:cs typeface="Calibri Light"/>
              </a:rPr>
              <a:t> </a:t>
            </a:r>
            <a:r>
              <a:rPr sz="1200" b="0" spc="-10" dirty="0">
                <a:solidFill>
                  <a:srgbClr val="1F3762"/>
                </a:solidFill>
                <a:latin typeface="Calibri Light"/>
                <a:cs typeface="Calibri Light"/>
              </a:rPr>
              <a:t>Snapshot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71168" y="9729927"/>
            <a:ext cx="5419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Final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Interactive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Dashboard -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&amp;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Cashless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Economy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Project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2025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(Developed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using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Microsoft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Excel)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7200" y="9989819"/>
            <a:ext cx="6647815" cy="21590"/>
            <a:chOff x="457200" y="9989819"/>
            <a:chExt cx="6647815" cy="21590"/>
          </a:xfrm>
        </p:grpSpPr>
        <p:sp>
          <p:nvSpPr>
            <p:cNvPr id="30" name="object 30"/>
            <p:cNvSpPr/>
            <p:nvPr/>
          </p:nvSpPr>
          <p:spPr>
            <a:xfrm>
              <a:off x="457200" y="9989819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219"/>
                  </a:lnTo>
                  <a:lnTo>
                    <a:pt x="0" y="4267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01585" y="999103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7200" y="9991038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01585" y="999408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7200" y="1000780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" y="10007815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834" y="4246407"/>
            <a:ext cx="980472" cy="87978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444500" y="952246"/>
            <a:ext cx="5490845" cy="381571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469900" marR="1905635" indent="457200">
              <a:lnSpc>
                <a:spcPts val="1150"/>
              </a:lnSpc>
              <a:spcBef>
                <a:spcPts val="175"/>
              </a:spcBef>
              <a:buFont typeface="Times New Roman"/>
              <a:buAutoNum type="arabicPeriod"/>
              <a:tabLst>
                <a:tab pos="927100" algn="l"/>
              </a:tabLst>
            </a:pPr>
            <a:r>
              <a:rPr sz="1000" b="1" dirty="0">
                <a:latin typeface="Times New Roman"/>
                <a:cs typeface="Times New Roman"/>
              </a:rPr>
              <a:t>National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Payments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Corporation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India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(NPCI). </a:t>
            </a:r>
            <a:r>
              <a:rPr sz="1000" i="1" dirty="0">
                <a:latin typeface="Times New Roman"/>
                <a:cs typeface="Times New Roman"/>
              </a:rPr>
              <a:t>“UPI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Monthly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Transaction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Report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(2016–</a:t>
            </a:r>
            <a:r>
              <a:rPr sz="1000" i="1" spc="-10" dirty="0">
                <a:latin typeface="Times New Roman"/>
                <a:cs typeface="Times New Roman"/>
              </a:rPr>
              <a:t>2025).”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https://www.npci.org.in</a:t>
            </a:r>
            <a:endParaRPr sz="1000">
              <a:latin typeface="Times New Roman"/>
              <a:cs typeface="Times New Roman"/>
            </a:endParaRPr>
          </a:p>
          <a:p>
            <a:pPr marL="927100" indent="-457200">
              <a:lnSpc>
                <a:spcPts val="1100"/>
              </a:lnSpc>
              <a:buFont typeface="Times New Roman"/>
              <a:buAutoNum type="arabicPeriod"/>
              <a:tabLst>
                <a:tab pos="927100" algn="l"/>
              </a:tabLst>
            </a:pPr>
            <a:r>
              <a:rPr sz="1000" b="1" spc="-10" dirty="0">
                <a:latin typeface="Times New Roman"/>
                <a:cs typeface="Times New Roman"/>
              </a:rPr>
              <a:t>Reserve </a:t>
            </a:r>
            <a:r>
              <a:rPr sz="1000" b="1" dirty="0">
                <a:latin typeface="Times New Roman"/>
                <a:cs typeface="Times New Roman"/>
              </a:rPr>
              <a:t>Bank of</a:t>
            </a:r>
            <a:r>
              <a:rPr sz="1000" b="1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India </a:t>
            </a:r>
            <a:r>
              <a:rPr sz="1000" b="1" spc="-10" dirty="0">
                <a:latin typeface="Times New Roman"/>
                <a:cs typeface="Times New Roman"/>
              </a:rPr>
              <a:t>(RBI).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45"/>
              </a:lnSpc>
            </a:pPr>
            <a:r>
              <a:rPr sz="1000" i="1" dirty="0">
                <a:latin typeface="Times New Roman"/>
                <a:cs typeface="Times New Roman"/>
              </a:rPr>
              <a:t>“Digital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Payments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Growth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Report,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2024–2025.”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45"/>
              </a:lnSpc>
            </a:pP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6"/>
              </a:rPr>
              <a:t>https://www.rbi.org.in</a:t>
            </a:r>
            <a:endParaRPr sz="1000">
              <a:latin typeface="Times New Roman"/>
              <a:cs typeface="Times New Roman"/>
            </a:endParaRPr>
          </a:p>
          <a:p>
            <a:pPr marL="927100" indent="-457200">
              <a:lnSpc>
                <a:spcPts val="1150"/>
              </a:lnSpc>
              <a:buFont typeface="Times New Roman"/>
              <a:buAutoNum type="arabicPeriod" startAt="3"/>
              <a:tabLst>
                <a:tab pos="927100" algn="l"/>
              </a:tabLst>
            </a:pPr>
            <a:r>
              <a:rPr sz="1000" b="1" dirty="0">
                <a:latin typeface="Times New Roman"/>
                <a:cs typeface="Times New Roman"/>
              </a:rPr>
              <a:t>The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Economic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Times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(March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2025).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50"/>
              </a:lnSpc>
            </a:pPr>
            <a:r>
              <a:rPr sz="1000" i="1" dirty="0">
                <a:latin typeface="Times New Roman"/>
                <a:cs typeface="Times New Roman"/>
              </a:rPr>
              <a:t>“Youth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spearhead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India’s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led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digital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revolution.”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50"/>
              </a:lnSpc>
            </a:pP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7"/>
              </a:rPr>
              <a:t>https://economictimes.indiatimes.com</a:t>
            </a:r>
            <a:endParaRPr sz="1000">
              <a:latin typeface="Times New Roman"/>
              <a:cs typeface="Times New Roman"/>
            </a:endParaRPr>
          </a:p>
          <a:p>
            <a:pPr marL="927100" indent="-457200">
              <a:lnSpc>
                <a:spcPts val="1150"/>
              </a:lnSpc>
              <a:buFont typeface="Times New Roman"/>
              <a:buAutoNum type="arabicPeriod" startAt="4"/>
              <a:tabLst>
                <a:tab pos="927100" algn="l"/>
              </a:tabLst>
            </a:pPr>
            <a:r>
              <a:rPr sz="1000" b="1" spc="-10" dirty="0">
                <a:latin typeface="Times New Roman"/>
                <a:cs typeface="Times New Roman"/>
              </a:rPr>
              <a:t>Moneycontrol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(June</a:t>
            </a:r>
            <a:r>
              <a:rPr sz="1000" b="1" spc="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2025).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45"/>
              </a:lnSpc>
            </a:pPr>
            <a:r>
              <a:rPr sz="1000" i="1" dirty="0">
                <a:latin typeface="Times New Roman"/>
                <a:cs typeface="Times New Roman"/>
              </a:rPr>
              <a:t>“Google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Pay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PhonePe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maintain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80%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share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of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transactions.”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45"/>
              </a:lnSpc>
            </a:pP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8"/>
              </a:rPr>
              <a:t>https://www.moneycontrol.com</a:t>
            </a:r>
            <a:endParaRPr sz="1000">
              <a:latin typeface="Times New Roman"/>
              <a:cs typeface="Times New Roman"/>
            </a:endParaRPr>
          </a:p>
          <a:p>
            <a:pPr marL="469900" marR="1724660" indent="457200">
              <a:lnSpc>
                <a:spcPts val="1150"/>
              </a:lnSpc>
              <a:spcBef>
                <a:spcPts val="55"/>
              </a:spcBef>
              <a:buFont typeface="Times New Roman"/>
              <a:buAutoNum type="arabicPeriod" startAt="5"/>
              <a:tabLst>
                <a:tab pos="927100" algn="l"/>
              </a:tabLst>
            </a:pPr>
            <a:r>
              <a:rPr sz="1000" b="1" dirty="0">
                <a:latin typeface="Times New Roman"/>
                <a:cs typeface="Times New Roman"/>
              </a:rPr>
              <a:t>Digital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India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Initiative,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Govt.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of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India.</a:t>
            </a:r>
            <a:r>
              <a:rPr sz="1000" b="1" spc="50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“Strengthening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Financial</a:t>
            </a:r>
            <a:r>
              <a:rPr sz="1000" i="1" spc="-4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Inclusion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through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UPI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Aadhaar.”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9"/>
              </a:rPr>
              <a:t>https://www.digitalindia.gov.in/</a:t>
            </a:r>
            <a:endParaRPr sz="1000">
              <a:latin typeface="Times New Roman"/>
              <a:cs typeface="Times New Roman"/>
            </a:endParaRPr>
          </a:p>
          <a:p>
            <a:pPr marL="927100" indent="-457200">
              <a:lnSpc>
                <a:spcPts val="1105"/>
              </a:lnSpc>
              <a:buFont typeface="Times New Roman"/>
              <a:buAutoNum type="arabicPeriod" startAt="5"/>
              <a:tabLst>
                <a:tab pos="927100" algn="l"/>
              </a:tabLst>
            </a:pPr>
            <a:r>
              <a:rPr sz="1000" b="1" dirty="0">
                <a:latin typeface="Times New Roman"/>
                <a:cs typeface="Times New Roman"/>
              </a:rPr>
              <a:t>Primary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Data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Source.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50"/>
              </a:lnSpc>
            </a:pPr>
            <a:r>
              <a:rPr sz="1000" i="1" dirty="0">
                <a:latin typeface="Times New Roman"/>
                <a:cs typeface="Times New Roman"/>
              </a:rPr>
              <a:t>Google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Form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Survey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“UPI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Cashless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Economy: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Behavioral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Study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(2025).”</a:t>
            </a: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ts val="1170"/>
              </a:lnSpc>
            </a:pPr>
            <a:r>
              <a:rPr sz="1000" i="1" dirty="0">
                <a:latin typeface="Times New Roman"/>
                <a:cs typeface="Times New Roman"/>
              </a:rPr>
              <a:t>60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valid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responses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collected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across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India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from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students,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professionals,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small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business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owners.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400" b="0" spc="-10" dirty="0">
                <a:solidFill>
                  <a:srgbClr val="2E5395"/>
                </a:solidFill>
                <a:latin typeface="Calibri Light"/>
                <a:cs typeface="Calibri Light"/>
              </a:rPr>
              <a:t>Appendix</a:t>
            </a:r>
            <a:endParaRPr sz="14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200" b="1" dirty="0">
                <a:solidFill>
                  <a:srgbClr val="1F3863"/>
                </a:solidFill>
                <a:latin typeface="Calibri"/>
                <a:cs typeface="Calibri"/>
              </a:rPr>
              <a:t>A.</a:t>
            </a:r>
            <a:r>
              <a:rPr sz="1200" b="1" spc="-2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F3863"/>
                </a:solidFill>
                <a:latin typeface="Calibri"/>
                <a:cs typeface="Calibri"/>
              </a:rPr>
              <a:t>Google</a:t>
            </a:r>
            <a:r>
              <a:rPr sz="1200" b="1" spc="-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F3863"/>
                </a:solidFill>
                <a:latin typeface="Calibri"/>
                <a:cs typeface="Calibri"/>
              </a:rPr>
              <a:t>Form</a:t>
            </a:r>
            <a:r>
              <a:rPr sz="1200" b="1" spc="-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F3863"/>
                </a:solidFill>
                <a:latin typeface="Calibri"/>
                <a:cs typeface="Calibri"/>
              </a:rPr>
              <a:t>QR</a:t>
            </a:r>
            <a:r>
              <a:rPr sz="1200" b="1" spc="-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1F3863"/>
                </a:solidFill>
                <a:latin typeface="Calibri"/>
                <a:cs typeface="Calibri"/>
              </a:rPr>
              <a:t>Code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200">
              <a:latin typeface="Calibri"/>
              <a:cs typeface="Calibri"/>
            </a:endParaRPr>
          </a:p>
          <a:p>
            <a:pPr marL="1163320" marR="2130425">
              <a:lnSpc>
                <a:spcPct val="109000"/>
              </a:lnSpc>
            </a:pPr>
            <a:r>
              <a:rPr sz="1000" i="1" dirty="0">
                <a:latin typeface="Calibri"/>
                <a:cs typeface="Calibri"/>
              </a:rPr>
              <a:t>Survey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Form: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UPI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and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Cashless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Economy</a:t>
            </a:r>
            <a:r>
              <a:rPr sz="1000" i="1" spc="5" dirty="0">
                <a:latin typeface="Calibri"/>
                <a:cs typeface="Calibri"/>
              </a:rPr>
              <a:t> </a:t>
            </a:r>
            <a:r>
              <a:rPr sz="1000" i="1" spc="-50" dirty="0">
                <a:latin typeface="Calibri"/>
                <a:cs typeface="Calibri"/>
              </a:rPr>
              <a:t>:</a:t>
            </a:r>
            <a:r>
              <a:rPr sz="1000" i="1" dirty="0">
                <a:latin typeface="Calibri"/>
                <a:cs typeface="Calibri"/>
              </a:rPr>
              <a:t> Nationwide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Data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Collection</a:t>
            </a:r>
            <a:r>
              <a:rPr sz="1000" i="1" spc="-3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(2025</a:t>
            </a:r>
            <a:r>
              <a:rPr sz="1000" i="1" spc="-35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Edition).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7834" y="6806082"/>
            <a:ext cx="6643751" cy="29432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3831"/>
            <a:ext cx="35737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D.</a:t>
            </a:r>
            <a:r>
              <a:rPr sz="1200" b="1" spc="-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Project</a:t>
            </a:r>
            <a:r>
              <a:rPr sz="1200" b="1" spc="-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File</a:t>
            </a:r>
            <a:r>
              <a:rPr sz="1200" b="1" spc="-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Directory</a:t>
            </a:r>
            <a:r>
              <a:rPr sz="1200" b="1" spc="-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(Google</a:t>
            </a:r>
            <a:r>
              <a:rPr sz="1200" b="1" spc="-3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3863"/>
                </a:solidFill>
                <a:latin typeface="Times New Roman"/>
                <a:cs typeface="Times New Roman"/>
              </a:rPr>
              <a:t>Drive</a:t>
            </a:r>
            <a:r>
              <a:rPr sz="1200" b="1" spc="-3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3863"/>
                </a:solidFill>
                <a:latin typeface="Times New Roman"/>
                <a:cs typeface="Times New Roman"/>
              </a:rPr>
              <a:t>Collaboration)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5161914"/>
            <a:ext cx="6647815" cy="20320"/>
            <a:chOff x="457200" y="5161914"/>
            <a:chExt cx="6647815" cy="20320"/>
          </a:xfrm>
        </p:grpSpPr>
        <p:sp>
          <p:nvSpPr>
            <p:cNvPr id="4" name="object 4"/>
            <p:cNvSpPr/>
            <p:nvPr/>
          </p:nvSpPr>
          <p:spPr>
            <a:xfrm>
              <a:off x="457200" y="5161914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5">
                  <a:moveTo>
                    <a:pt x="6645910" y="0"/>
                  </a:moveTo>
                  <a:lnTo>
                    <a:pt x="0" y="0"/>
                  </a:lnTo>
                  <a:lnTo>
                    <a:pt x="0" y="520"/>
                  </a:lnTo>
                  <a:lnTo>
                    <a:pt x="0" y="3556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01585" y="51624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5162435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1585" y="516547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51791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5179199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4500" y="5381370"/>
            <a:ext cx="6669405" cy="2174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1F3863"/>
                </a:solidFill>
                <a:latin typeface="Times New Roman"/>
                <a:cs typeface="Times New Roman"/>
              </a:rPr>
              <a:t>End</a:t>
            </a:r>
            <a:r>
              <a:rPr sz="1400" b="1" spc="-1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3863"/>
                </a:solidFill>
                <a:latin typeface="Times New Roman"/>
                <a:cs typeface="Times New Roman"/>
              </a:rPr>
              <a:t>of</a:t>
            </a:r>
            <a:r>
              <a:rPr sz="1400" b="1" spc="-2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3863"/>
                </a:solidFill>
                <a:latin typeface="Times New Roman"/>
                <a:cs typeface="Times New Roman"/>
              </a:rPr>
              <a:t>Report -</a:t>
            </a:r>
            <a:r>
              <a:rPr sz="1400" b="1" spc="-10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3863"/>
                </a:solidFill>
                <a:latin typeface="Times New Roman"/>
                <a:cs typeface="Times New Roman"/>
              </a:rPr>
              <a:t>Final</a:t>
            </a:r>
            <a:r>
              <a:rPr sz="1400" b="1" spc="-25" dirty="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3863"/>
                </a:solidFill>
                <a:latin typeface="Times New Roman"/>
                <a:cs typeface="Times New Roman"/>
              </a:rPr>
              <a:t>Reflections:</a:t>
            </a:r>
            <a:endParaRPr sz="1400">
              <a:latin typeface="Times New Roman"/>
              <a:cs typeface="Times New Roman"/>
            </a:endParaRPr>
          </a:p>
          <a:p>
            <a:pPr marL="12700" marR="361950">
              <a:lnSpc>
                <a:spcPts val="1380"/>
              </a:lnSpc>
              <a:spcBef>
                <a:spcPts val="142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appendix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transparency,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authenticity,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and </a:t>
            </a:r>
            <a:r>
              <a:rPr sz="1200" b="1" dirty="0">
                <a:latin typeface="Times New Roman"/>
                <a:cs typeface="Times New Roman"/>
              </a:rPr>
              <a:t>analytical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rigor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visualization.</a:t>
            </a:r>
            <a:endParaRPr sz="1200">
              <a:latin typeface="Times New Roman"/>
              <a:cs typeface="Times New Roman"/>
            </a:endParaRPr>
          </a:p>
          <a:p>
            <a:pPr marL="12700" marR="17145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accuracy,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ethical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handling,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collaborative </a:t>
            </a:r>
            <a:r>
              <a:rPr sz="1200" b="1" dirty="0">
                <a:latin typeface="Times New Roman"/>
                <a:cs typeface="Times New Roman"/>
              </a:rPr>
              <a:t>discipline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science.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3208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academic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research,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when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combined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corporate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analytical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methods</a:t>
            </a:r>
            <a:r>
              <a:rPr sz="1200" spc="-10" dirty="0">
                <a:latin typeface="Times New Roman"/>
                <a:cs typeface="Times New Roman"/>
              </a:rPr>
              <a:t>,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impact.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example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scientists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contribute</a:t>
            </a:r>
            <a:r>
              <a:rPr sz="1200" spc="-25" dirty="0">
                <a:latin typeface="Times New Roman"/>
                <a:cs typeface="Times New Roman"/>
              </a:rPr>
              <a:t> to:</a:t>
            </a:r>
            <a:endParaRPr sz="1200">
              <a:latin typeface="Times New Roman"/>
              <a:cs typeface="Times New Roman"/>
            </a:endParaRPr>
          </a:p>
          <a:p>
            <a:pPr marL="2913380">
              <a:lnSpc>
                <a:spcPct val="100000"/>
              </a:lnSpc>
              <a:spcBef>
                <a:spcPts val="1340"/>
              </a:spcBef>
            </a:pPr>
            <a:r>
              <a:rPr sz="1200" i="1" dirty="0">
                <a:latin typeface="Times New Roman"/>
                <a:cs typeface="Times New Roman"/>
              </a:rPr>
              <a:t>“Empowering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India’s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Future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through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Data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Science.”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8127365"/>
            <a:ext cx="6647815" cy="21590"/>
            <a:chOff x="457200" y="8127365"/>
            <a:chExt cx="6647815" cy="21590"/>
          </a:xfrm>
        </p:grpSpPr>
        <p:sp>
          <p:nvSpPr>
            <p:cNvPr id="12" name="object 12"/>
            <p:cNvSpPr/>
            <p:nvPr/>
          </p:nvSpPr>
          <p:spPr>
            <a:xfrm>
              <a:off x="457200" y="8127365"/>
              <a:ext cx="6645909" cy="19685"/>
            </a:xfrm>
            <a:custGeom>
              <a:avLst/>
              <a:gdLst/>
              <a:ahLst/>
              <a:cxnLst/>
              <a:rect l="l" t="t" r="r" b="b"/>
              <a:pathLst>
                <a:path w="6645909" h="19684">
                  <a:moveTo>
                    <a:pt x="6645910" y="0"/>
                  </a:moveTo>
                  <a:lnTo>
                    <a:pt x="0" y="0"/>
                  </a:lnTo>
                  <a:lnTo>
                    <a:pt x="0" y="1409"/>
                  </a:lnTo>
                  <a:lnTo>
                    <a:pt x="0" y="4445"/>
                  </a:lnTo>
                  <a:lnTo>
                    <a:pt x="0" y="19685"/>
                  </a:lnTo>
                  <a:lnTo>
                    <a:pt x="6645910" y="19685"/>
                  </a:lnTo>
                  <a:lnTo>
                    <a:pt x="664591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1585" y="81287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8128774"/>
              <a:ext cx="6647815" cy="17145"/>
            </a:xfrm>
            <a:custGeom>
              <a:avLst/>
              <a:gdLst/>
              <a:ahLst/>
              <a:cxnLst/>
              <a:rect l="l" t="t" r="r" b="b"/>
              <a:pathLst>
                <a:path w="6647815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647815" h="17145">
                  <a:moveTo>
                    <a:pt x="6647421" y="0"/>
                  </a:moveTo>
                  <a:lnTo>
                    <a:pt x="6644386" y="0"/>
                  </a:lnTo>
                  <a:lnTo>
                    <a:pt x="6644386" y="3035"/>
                  </a:lnTo>
                  <a:lnTo>
                    <a:pt x="6647421" y="3035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01585" y="813181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200" y="81455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8145526"/>
              <a:ext cx="6647815" cy="3175"/>
            </a:xfrm>
            <a:custGeom>
              <a:avLst/>
              <a:gdLst/>
              <a:ahLst/>
              <a:cxnLst/>
              <a:rect l="l" t="t" r="r" b="b"/>
              <a:pathLst>
                <a:path w="6647815" h="3175">
                  <a:moveTo>
                    <a:pt x="6647421" y="0"/>
                  </a:moveTo>
                  <a:lnTo>
                    <a:pt x="6644386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44386" y="3048"/>
                  </a:lnTo>
                  <a:lnTo>
                    <a:pt x="6647421" y="3048"/>
                  </a:lnTo>
                  <a:lnTo>
                    <a:pt x="664742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32459"/>
            <a:ext cx="6645909" cy="269112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44500" y="3141947"/>
            <a:ext cx="5627370" cy="17348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474470">
              <a:lnSpc>
                <a:spcPct val="100000"/>
              </a:lnSpc>
              <a:spcBef>
                <a:spcPts val="175"/>
              </a:spcBef>
            </a:pPr>
            <a:r>
              <a:rPr sz="900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https://drive.google.com/drive/folders/1xiAogiK7NRwIIguPvx9ReeJ_w8CbyJfQ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Times New Roman"/>
                <a:cs typeface="Times New Roman"/>
              </a:rPr>
              <a:t>UPI_Project_Files: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latin typeface="Times New Roman"/>
                <a:cs typeface="Times New Roman"/>
              </a:rPr>
              <a:t>├──</a:t>
            </a:r>
            <a:r>
              <a:rPr sz="1200" spc="330" dirty="0">
                <a:solidFill>
                  <a:srgbClr val="A6A6A6"/>
                </a:solidFill>
                <a:latin typeface="Segoe UI Emoji"/>
                <a:cs typeface="Segoe UI Emoji"/>
              </a:rPr>
              <a:t>   </a:t>
            </a:r>
            <a:r>
              <a:rPr sz="1200" i="1" spc="-10" dirty="0">
                <a:latin typeface="Times New Roman"/>
                <a:cs typeface="Times New Roman"/>
              </a:rPr>
              <a:t>Raw_Data.csv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Google Form </a:t>
            </a:r>
            <a:r>
              <a:rPr sz="1200" spc="-10" dirty="0">
                <a:latin typeface="Times New Roman"/>
                <a:cs typeface="Times New Roman"/>
              </a:rPr>
              <a:t>Responses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├──</a:t>
            </a:r>
            <a:r>
              <a:rPr sz="1200" spc="390" dirty="0">
                <a:solidFill>
                  <a:srgbClr val="EF3917"/>
                </a:solidFill>
                <a:latin typeface="Segoe UI Emoji"/>
                <a:cs typeface="Segoe UI Emoji"/>
              </a:rPr>
              <a:t>   </a:t>
            </a:r>
            <a:r>
              <a:rPr sz="1200" i="1" spc="-10" dirty="0">
                <a:latin typeface="Times New Roman"/>
                <a:cs typeface="Times New Roman"/>
              </a:rPr>
              <a:t>Cleaned_Data.xlsx</a:t>
            </a:r>
            <a:r>
              <a:rPr sz="1200" i="1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Power Query </a:t>
            </a:r>
            <a:r>
              <a:rPr sz="1200" spc="-10" dirty="0">
                <a:latin typeface="Times New Roman"/>
                <a:cs typeface="Times New Roman"/>
              </a:rPr>
              <a:t>Output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├──</a:t>
            </a:r>
            <a:r>
              <a:rPr sz="1200" spc="375" dirty="0">
                <a:solidFill>
                  <a:srgbClr val="EF3917"/>
                </a:solidFill>
                <a:latin typeface="Segoe UI Emoji"/>
                <a:cs typeface="Segoe UI Emoji"/>
              </a:rPr>
              <a:t>   </a:t>
            </a:r>
            <a:r>
              <a:rPr sz="1200" i="1" dirty="0">
                <a:latin typeface="Times New Roman"/>
                <a:cs typeface="Times New Roman"/>
              </a:rPr>
              <a:t>Dashboard_Final.xlsx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-10" dirty="0">
                <a:latin typeface="Times New Roman"/>
                <a:cs typeface="Times New Roman"/>
              </a:rPr>
              <a:t> Dashboard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├──</a:t>
            </a:r>
            <a:r>
              <a:rPr sz="1200" spc="375" dirty="0">
                <a:solidFill>
                  <a:srgbClr val="E4E4E4"/>
                </a:solidFill>
                <a:latin typeface="Segoe UI Emoji"/>
                <a:cs typeface="Segoe UI Emoji"/>
              </a:rPr>
              <a:t>   </a:t>
            </a:r>
            <a:r>
              <a:rPr sz="1200" i="1" spc="-10" dirty="0">
                <a:latin typeface="Times New Roman"/>
                <a:cs typeface="Times New Roman"/>
              </a:rPr>
              <a:t>Report_Final.docx</a:t>
            </a:r>
            <a:r>
              <a:rPr sz="1200" i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Word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</a:t>
            </a:r>
            <a:endParaRPr sz="12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└──</a:t>
            </a:r>
            <a:r>
              <a:rPr sz="1200" spc="390" dirty="0">
                <a:solidFill>
                  <a:srgbClr val="FFD579"/>
                </a:solidFill>
                <a:latin typeface="Segoe UI Emoji"/>
                <a:cs typeface="Segoe UI Emoji"/>
              </a:rPr>
              <a:t>   </a:t>
            </a:r>
            <a:r>
              <a:rPr sz="1200" i="1" dirty="0">
                <a:latin typeface="Times New Roman"/>
                <a:cs typeface="Times New Roman"/>
              </a:rPr>
              <a:t>Submission_Folder/</a:t>
            </a:r>
            <a:r>
              <a:rPr sz="1200" i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PDF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References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i="1" dirty="0">
                <a:latin typeface="Times New Roman"/>
                <a:cs typeface="Times New Roman"/>
              </a:rPr>
              <a:t>Structured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Google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Drive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workspace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ensuring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transparency,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teamwork,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version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control.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0564" cy="106923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6472</Words>
  <Application>Microsoft Office PowerPoint</Application>
  <PresentationFormat>Custom</PresentationFormat>
  <Paragraphs>632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Black</vt:lpstr>
      <vt:lpstr>Calibri</vt:lpstr>
      <vt:lpstr>Calibri Light</vt:lpstr>
      <vt:lpstr>Courier New</vt:lpstr>
      <vt:lpstr>Segoe UI Emoji</vt:lpstr>
      <vt:lpstr>Symbol</vt:lpstr>
      <vt:lpstr>Tahoma</vt:lpstr>
      <vt:lpstr>Times New Roman</vt:lpstr>
      <vt:lpstr>Office Theme</vt:lpstr>
      <vt:lpstr>PowerPoint Presentation</vt:lpstr>
      <vt:lpstr>CERTIFICATE OF COMPLETION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rehan khan</dc:creator>
  <cp:lastModifiedBy>Soham Morye</cp:lastModifiedBy>
  <cp:revision>1</cp:revision>
  <dcterms:created xsi:type="dcterms:W3CDTF">2025-12-01T09:37:31Z</dcterms:created>
  <dcterms:modified xsi:type="dcterms:W3CDTF">2025-12-01T09:41:02Z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2025-11-30T00:00:00Z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2025-12-01T00:00:00Z</vt:filetime>
  </property>
  <property fmtid="{D5CDD505-2E9C-101B-9397-08002B2CF9AE}" pid="5" name="Producer">
    <vt:lpwstr>Microsoft® Word LTSC</vt:lpwstr>
  </property>
</Properties>
</file>